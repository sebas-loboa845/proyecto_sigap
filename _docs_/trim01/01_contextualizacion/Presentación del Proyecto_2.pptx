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handoutMasterIdLst>
    <p:handoutMasterId r:id="rId13"/>
  </p:handoutMasterIdLst>
  <p:sldIdLst>
    <p:sldId id="468" r:id="rId2"/>
    <p:sldId id="503" r:id="rId3"/>
    <p:sldId id="499" r:id="rId4"/>
    <p:sldId id="504" r:id="rId5"/>
    <p:sldId id="501" r:id="rId6"/>
    <p:sldId id="508" r:id="rId7"/>
    <p:sldId id="510" r:id="rId8"/>
    <p:sldId id="512" r:id="rId9"/>
    <p:sldId id="514" r:id="rId10"/>
    <p:sldId id="264" r:id="rId11"/>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8AA00"/>
    <a:srgbClr val="766363"/>
    <a:srgbClr val="FFF5EA"/>
    <a:srgbClr val="00324D"/>
    <a:srgbClr val="FF6C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8EF5721-70B2-0BD7-5F7A-216D2FD6EF87}" v="1239" dt="2026-04-14T20:47:16.2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handoutMaster" Target="handoutMasters/handoutMaster1.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9999AFE6-721E-1D92-FFC0-72E02DBB97B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a:extLst>
              <a:ext uri="{FF2B5EF4-FFF2-40B4-BE49-F238E27FC236}">
                <a16:creationId xmlns:a16="http://schemas.microsoft.com/office/drawing/2014/main" id="{BA598C0A-ECF9-B897-80D5-1AE7ABA3058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8369B9F-131C-2846-AB8F-CEE154B4CAEB}" type="datetimeFigureOut">
              <a:rPr lang="es-CO" smtClean="0"/>
              <a:t>20/08/2026</a:t>
            </a:fld>
            <a:endParaRPr lang="es-CO"/>
          </a:p>
        </p:txBody>
      </p:sp>
      <p:sp>
        <p:nvSpPr>
          <p:cNvPr id="4" name="Marcador de pie de página 3">
            <a:extLst>
              <a:ext uri="{FF2B5EF4-FFF2-40B4-BE49-F238E27FC236}">
                <a16:creationId xmlns:a16="http://schemas.microsoft.com/office/drawing/2014/main" id="{788F308B-0102-A0B4-9A23-E807C735E85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5" name="Marcador de número de diapositiva 4">
            <a:extLst>
              <a:ext uri="{FF2B5EF4-FFF2-40B4-BE49-F238E27FC236}">
                <a16:creationId xmlns:a16="http://schemas.microsoft.com/office/drawing/2014/main" id="{1E7CACDD-5D14-572A-2591-609B03F1682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E293070F-3F68-E043-9CC3-B53B4F22454C}" type="slidenum">
              <a:rPr lang="es-CO" smtClean="0"/>
              <a:t>‹Nº›</a:t>
            </a:fld>
            <a:endParaRPr lang="es-CO"/>
          </a:p>
        </p:txBody>
      </p:sp>
    </p:spTree>
    <p:extLst>
      <p:ext uri="{BB962C8B-B14F-4D97-AF65-F5344CB8AC3E}">
        <p14:creationId xmlns:p14="http://schemas.microsoft.com/office/powerpoint/2010/main" val="3470045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60CB96-A603-FF42-AE46-F5F75F80A67B}" type="datetimeFigureOut">
              <a:rPr lang="es-CO" smtClean="0"/>
              <a:t>20/08/2026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906C58E-460D-4A4B-B0C2-1191B9D14FCB}" type="slidenum">
              <a:rPr lang="es-CO" smtClean="0"/>
              <a:t>‹Nº›</a:t>
            </a:fld>
            <a:endParaRPr lang="es-CO"/>
          </a:p>
        </p:txBody>
      </p:sp>
    </p:spTree>
    <p:extLst>
      <p:ext uri="{BB962C8B-B14F-4D97-AF65-F5344CB8AC3E}">
        <p14:creationId xmlns:p14="http://schemas.microsoft.com/office/powerpoint/2010/main" val="10213026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a:p>
        </p:txBody>
      </p:sp>
      <p:sp>
        <p:nvSpPr>
          <p:cNvPr id="4" name="Marcador de número de diapositiva 3"/>
          <p:cNvSpPr>
            <a:spLocks noGrp="1"/>
          </p:cNvSpPr>
          <p:nvPr>
            <p:ph type="sldNum" sz="quarter" idx="5"/>
          </p:nvPr>
        </p:nvSpPr>
        <p:spPr/>
        <p:txBody>
          <a:bodyPr/>
          <a:lstStyle/>
          <a:p>
            <a:fld id="{6906C58E-460D-4A4B-B0C2-1191B9D14FCB}" type="slidenum">
              <a:rPr lang="es-CO" smtClean="0"/>
              <a:t>1</a:t>
            </a:fld>
            <a:endParaRPr lang="es-CO"/>
          </a:p>
        </p:txBody>
      </p:sp>
    </p:spTree>
    <p:extLst>
      <p:ext uri="{BB962C8B-B14F-4D97-AF65-F5344CB8AC3E}">
        <p14:creationId xmlns:p14="http://schemas.microsoft.com/office/powerpoint/2010/main" val="1178927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95260C-E8AD-B240-9481-5B2FE14A606C}"/>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A8F4960B-AC04-294C-9B8A-B10830EF5F0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89F720DD-BA8F-C443-A59E-F0EEAF843AB1}"/>
              </a:ext>
            </a:extLst>
          </p:cNvPr>
          <p:cNvSpPr>
            <a:spLocks noGrp="1"/>
          </p:cNvSpPr>
          <p:nvPr>
            <p:ph type="dt" sz="half" idx="10"/>
          </p:nvPr>
        </p:nvSpPr>
        <p:spPr/>
        <p:txBody>
          <a:bodyPr/>
          <a:lstStyle/>
          <a:p>
            <a:fld id="{BD986248-06F7-A441-A47A-264EBD310E11}" type="datetimeFigureOut">
              <a:rPr lang="es-CO" smtClean="0"/>
              <a:t>20/08/2026</a:t>
            </a:fld>
            <a:endParaRPr lang="es-CO"/>
          </a:p>
        </p:txBody>
      </p:sp>
      <p:sp>
        <p:nvSpPr>
          <p:cNvPr id="5" name="Marcador de pie de página 4">
            <a:extLst>
              <a:ext uri="{FF2B5EF4-FFF2-40B4-BE49-F238E27FC236}">
                <a16:creationId xmlns:a16="http://schemas.microsoft.com/office/drawing/2014/main" id="{F9A1676A-B50F-4048-B9A0-67475225D0C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90B408DD-191C-9940-B5DC-9B04378C876B}"/>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3794502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7817F6C-CDBB-234C-B00B-255C60E54836}"/>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29743F10-0075-0F47-A0C2-0071CB2B3840}"/>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AB4C6E2-1F45-C54F-A384-6BA60BB5E5E7}"/>
              </a:ext>
            </a:extLst>
          </p:cNvPr>
          <p:cNvSpPr>
            <a:spLocks noGrp="1"/>
          </p:cNvSpPr>
          <p:nvPr>
            <p:ph type="dt" sz="half" idx="10"/>
          </p:nvPr>
        </p:nvSpPr>
        <p:spPr/>
        <p:txBody>
          <a:bodyPr/>
          <a:lstStyle/>
          <a:p>
            <a:fld id="{BD986248-06F7-A441-A47A-264EBD310E11}" type="datetimeFigureOut">
              <a:rPr lang="es-CO" smtClean="0"/>
              <a:t>20/08/2026</a:t>
            </a:fld>
            <a:endParaRPr lang="es-CO"/>
          </a:p>
        </p:txBody>
      </p:sp>
      <p:sp>
        <p:nvSpPr>
          <p:cNvPr id="5" name="Marcador de pie de página 4">
            <a:extLst>
              <a:ext uri="{FF2B5EF4-FFF2-40B4-BE49-F238E27FC236}">
                <a16:creationId xmlns:a16="http://schemas.microsoft.com/office/drawing/2014/main" id="{EF44B0E8-9C87-6C41-96F5-6419B5000575}"/>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DD08979-815A-D443-B424-FB031F975D72}"/>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6422036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4B3E04-413C-394A-94BD-6FD1D56E17FC}"/>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D2E8DEAC-948A-0F4A-9098-1EA5A30BE36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BF0E9B39-9659-7747-851C-17A0C73C8B12}"/>
              </a:ext>
            </a:extLst>
          </p:cNvPr>
          <p:cNvSpPr>
            <a:spLocks noGrp="1"/>
          </p:cNvSpPr>
          <p:nvPr>
            <p:ph type="dt" sz="half" idx="10"/>
          </p:nvPr>
        </p:nvSpPr>
        <p:spPr/>
        <p:txBody>
          <a:bodyPr/>
          <a:lstStyle/>
          <a:p>
            <a:fld id="{BD986248-06F7-A441-A47A-264EBD310E11}" type="datetimeFigureOut">
              <a:rPr lang="es-CO" smtClean="0"/>
              <a:t>20/08/2026</a:t>
            </a:fld>
            <a:endParaRPr lang="es-CO"/>
          </a:p>
        </p:txBody>
      </p:sp>
      <p:sp>
        <p:nvSpPr>
          <p:cNvPr id="5" name="Marcador de pie de página 4">
            <a:extLst>
              <a:ext uri="{FF2B5EF4-FFF2-40B4-BE49-F238E27FC236}">
                <a16:creationId xmlns:a16="http://schemas.microsoft.com/office/drawing/2014/main" id="{5990AE33-28EE-274E-8E15-02A1474831B8}"/>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4EA1D99B-0619-1847-8509-03589920E86F}"/>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1303769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F0119BB-39AA-4B48-BB60-3EE344FF24B4}"/>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58E8365F-8201-9D4B-85A4-E53E8819A86D}"/>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C674364B-4945-0A4D-A279-35519E3F46DE}"/>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2868BFB1-0C38-A141-AB7B-22CD10FF3F3D}"/>
              </a:ext>
            </a:extLst>
          </p:cNvPr>
          <p:cNvSpPr>
            <a:spLocks noGrp="1"/>
          </p:cNvSpPr>
          <p:nvPr>
            <p:ph type="dt" sz="half" idx="10"/>
          </p:nvPr>
        </p:nvSpPr>
        <p:spPr/>
        <p:txBody>
          <a:bodyPr/>
          <a:lstStyle/>
          <a:p>
            <a:fld id="{BD986248-06F7-A441-A47A-264EBD310E11}" type="datetimeFigureOut">
              <a:rPr lang="es-CO" smtClean="0"/>
              <a:t>20/08/2026</a:t>
            </a:fld>
            <a:endParaRPr lang="es-CO"/>
          </a:p>
        </p:txBody>
      </p:sp>
      <p:sp>
        <p:nvSpPr>
          <p:cNvPr id="6" name="Marcador de pie de página 5">
            <a:extLst>
              <a:ext uri="{FF2B5EF4-FFF2-40B4-BE49-F238E27FC236}">
                <a16:creationId xmlns:a16="http://schemas.microsoft.com/office/drawing/2014/main" id="{9FF6516E-C104-3E4A-BC0F-DC137BD98C42}"/>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F2C08597-16B2-3B42-B59A-8815DD747357}"/>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1425473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B44272C-3F8B-AF4A-82BE-E5BE9107D7B0}"/>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44B8DA00-E62A-A54E-BC50-AEBAAF25160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36E9F7D8-1A62-544F-A4E2-23A591854BA4}"/>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21895FC1-5F27-B640-81B9-33366BECB58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400D0329-F1AE-FE44-A7B4-B16B429A0C9A}"/>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5A80CE19-B065-6E4F-A207-999BBF94CA15}"/>
              </a:ext>
            </a:extLst>
          </p:cNvPr>
          <p:cNvSpPr>
            <a:spLocks noGrp="1"/>
          </p:cNvSpPr>
          <p:nvPr>
            <p:ph type="dt" sz="half" idx="10"/>
          </p:nvPr>
        </p:nvSpPr>
        <p:spPr/>
        <p:txBody>
          <a:bodyPr/>
          <a:lstStyle/>
          <a:p>
            <a:fld id="{BD986248-06F7-A441-A47A-264EBD310E11}" type="datetimeFigureOut">
              <a:rPr lang="es-CO" smtClean="0"/>
              <a:t>20/08/2026</a:t>
            </a:fld>
            <a:endParaRPr lang="es-CO"/>
          </a:p>
        </p:txBody>
      </p:sp>
      <p:sp>
        <p:nvSpPr>
          <p:cNvPr id="8" name="Marcador de pie de página 7">
            <a:extLst>
              <a:ext uri="{FF2B5EF4-FFF2-40B4-BE49-F238E27FC236}">
                <a16:creationId xmlns:a16="http://schemas.microsoft.com/office/drawing/2014/main" id="{299C46BF-4920-E443-B109-668969C5EB88}"/>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9C417FDA-D0D0-AD4C-9F49-6FFEC4BC64C3}"/>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169540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4C92FB5-1F0C-DE4B-8A05-DE0792814E4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5AF7F14C-AA7D-3049-A400-4AC6EED53745}"/>
              </a:ext>
            </a:extLst>
          </p:cNvPr>
          <p:cNvSpPr>
            <a:spLocks noGrp="1"/>
          </p:cNvSpPr>
          <p:nvPr>
            <p:ph type="dt" sz="half" idx="10"/>
          </p:nvPr>
        </p:nvSpPr>
        <p:spPr/>
        <p:txBody>
          <a:bodyPr/>
          <a:lstStyle/>
          <a:p>
            <a:fld id="{BD986248-06F7-A441-A47A-264EBD310E11}" type="datetimeFigureOut">
              <a:rPr lang="es-CO" smtClean="0"/>
              <a:t>20/08/2026</a:t>
            </a:fld>
            <a:endParaRPr lang="es-CO"/>
          </a:p>
        </p:txBody>
      </p:sp>
      <p:sp>
        <p:nvSpPr>
          <p:cNvPr id="4" name="Marcador de pie de página 3">
            <a:extLst>
              <a:ext uri="{FF2B5EF4-FFF2-40B4-BE49-F238E27FC236}">
                <a16:creationId xmlns:a16="http://schemas.microsoft.com/office/drawing/2014/main" id="{E746EF7E-3912-BF43-BEB6-49819D4EEF21}"/>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9BD767C9-209C-E54C-90E7-5176E4464B89}"/>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8228511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77E92712-14E7-954C-8C23-33CD3DBD715B}"/>
              </a:ext>
            </a:extLst>
          </p:cNvPr>
          <p:cNvSpPr>
            <a:spLocks noGrp="1"/>
          </p:cNvSpPr>
          <p:nvPr>
            <p:ph type="dt" sz="half" idx="10"/>
          </p:nvPr>
        </p:nvSpPr>
        <p:spPr/>
        <p:txBody>
          <a:bodyPr/>
          <a:lstStyle/>
          <a:p>
            <a:fld id="{BD986248-06F7-A441-A47A-264EBD310E11}" type="datetimeFigureOut">
              <a:rPr lang="es-CO" smtClean="0"/>
              <a:t>20/08/2026</a:t>
            </a:fld>
            <a:endParaRPr lang="es-CO"/>
          </a:p>
        </p:txBody>
      </p:sp>
      <p:sp>
        <p:nvSpPr>
          <p:cNvPr id="3" name="Marcador de pie de página 2">
            <a:extLst>
              <a:ext uri="{FF2B5EF4-FFF2-40B4-BE49-F238E27FC236}">
                <a16:creationId xmlns:a16="http://schemas.microsoft.com/office/drawing/2014/main" id="{FD7BCE5F-F417-1247-9F26-F4B713468517}"/>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20B4FC7D-A6BA-0840-87AD-C71B1896B98D}"/>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25416207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CF2BE35-F0B5-DA4A-BE9E-AACFF26FF183}"/>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8E62C38B-5384-914E-829A-352266F70B9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A79E434B-6E01-8148-AB00-051DDD4020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E3E8B8D-7A8A-794B-83A8-6920142BBBD1}"/>
              </a:ext>
            </a:extLst>
          </p:cNvPr>
          <p:cNvSpPr>
            <a:spLocks noGrp="1"/>
          </p:cNvSpPr>
          <p:nvPr>
            <p:ph type="dt" sz="half" idx="10"/>
          </p:nvPr>
        </p:nvSpPr>
        <p:spPr/>
        <p:txBody>
          <a:bodyPr/>
          <a:lstStyle/>
          <a:p>
            <a:fld id="{BD986248-06F7-A441-A47A-264EBD310E11}" type="datetimeFigureOut">
              <a:rPr lang="es-CO" smtClean="0"/>
              <a:t>20/08/2026</a:t>
            </a:fld>
            <a:endParaRPr lang="es-CO"/>
          </a:p>
        </p:txBody>
      </p:sp>
      <p:sp>
        <p:nvSpPr>
          <p:cNvPr id="6" name="Marcador de pie de página 5">
            <a:extLst>
              <a:ext uri="{FF2B5EF4-FFF2-40B4-BE49-F238E27FC236}">
                <a16:creationId xmlns:a16="http://schemas.microsoft.com/office/drawing/2014/main" id="{582F34C9-1A26-0B41-8AE3-21E599CC561A}"/>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782100B2-B969-0340-BEE2-F5FE05353DFA}"/>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36971462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BADFDE3-8BDA-6F45-A442-3C2913AE5268}"/>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C08B3433-597C-7E43-A088-A50E4434313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A20DB791-C948-D149-A74A-0C0DFCA0B4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1145138C-C370-6E42-902A-0DD2F4F614AE}"/>
              </a:ext>
            </a:extLst>
          </p:cNvPr>
          <p:cNvSpPr>
            <a:spLocks noGrp="1"/>
          </p:cNvSpPr>
          <p:nvPr>
            <p:ph type="dt" sz="half" idx="10"/>
          </p:nvPr>
        </p:nvSpPr>
        <p:spPr/>
        <p:txBody>
          <a:bodyPr/>
          <a:lstStyle/>
          <a:p>
            <a:fld id="{BD986248-06F7-A441-A47A-264EBD310E11}" type="datetimeFigureOut">
              <a:rPr lang="es-CO" smtClean="0"/>
              <a:t>20/08/2026</a:t>
            </a:fld>
            <a:endParaRPr lang="es-CO"/>
          </a:p>
        </p:txBody>
      </p:sp>
      <p:sp>
        <p:nvSpPr>
          <p:cNvPr id="6" name="Marcador de pie de página 5">
            <a:extLst>
              <a:ext uri="{FF2B5EF4-FFF2-40B4-BE49-F238E27FC236}">
                <a16:creationId xmlns:a16="http://schemas.microsoft.com/office/drawing/2014/main" id="{9A61561C-CA9F-0943-8A3E-60233368C60D}"/>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67B72CA4-FB9F-FB4B-8159-119C3846C3CB}"/>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0695029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8C07BF5-7EFA-9943-8CEE-7006AC893CB6}"/>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BEFF53FB-B16B-7444-99CF-B7533C11E26D}"/>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0C9133D3-834D-0942-99DE-29F15E8DC436}"/>
              </a:ext>
            </a:extLst>
          </p:cNvPr>
          <p:cNvSpPr>
            <a:spLocks noGrp="1"/>
          </p:cNvSpPr>
          <p:nvPr>
            <p:ph type="dt" sz="half" idx="10"/>
          </p:nvPr>
        </p:nvSpPr>
        <p:spPr/>
        <p:txBody>
          <a:bodyPr/>
          <a:lstStyle/>
          <a:p>
            <a:fld id="{BD986248-06F7-A441-A47A-264EBD310E11}" type="datetimeFigureOut">
              <a:rPr lang="es-CO" smtClean="0"/>
              <a:t>20/08/2026</a:t>
            </a:fld>
            <a:endParaRPr lang="es-CO"/>
          </a:p>
        </p:txBody>
      </p:sp>
      <p:sp>
        <p:nvSpPr>
          <p:cNvPr id="5" name="Marcador de pie de página 4">
            <a:extLst>
              <a:ext uri="{FF2B5EF4-FFF2-40B4-BE49-F238E27FC236}">
                <a16:creationId xmlns:a16="http://schemas.microsoft.com/office/drawing/2014/main" id="{5A5A02E1-CB07-7943-ACA2-6FF8387D32DF}"/>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A12BC7A9-2B5F-1841-91C8-9460E3E551A3}"/>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1711478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1_Encabezado de sección">
    <p:spTree>
      <p:nvGrpSpPr>
        <p:cNvPr id="1" name=""/>
        <p:cNvGrpSpPr/>
        <p:nvPr/>
      </p:nvGrpSpPr>
      <p:grpSpPr>
        <a:xfrm>
          <a:off x="0" y="0"/>
          <a:ext cx="0" cy="0"/>
          <a:chOff x="0" y="0"/>
          <a:chExt cx="0" cy="0"/>
        </a:xfrm>
      </p:grpSpPr>
      <p:pic>
        <p:nvPicPr>
          <p:cNvPr id="4" name="Imagen 3">
            <a:extLst>
              <a:ext uri="{FF2B5EF4-FFF2-40B4-BE49-F238E27FC236}">
                <a16:creationId xmlns:a16="http://schemas.microsoft.com/office/drawing/2014/main" id="{7B25968F-984F-8BF4-4FF0-2432A9923EB8}"/>
              </a:ext>
            </a:extLst>
          </p:cNvPr>
          <p:cNvPicPr>
            <a:picLocks noChangeAspect="1"/>
          </p:cNvPicPr>
          <p:nvPr userDrawn="1"/>
        </p:nvPicPr>
        <p:blipFill>
          <a:blip r:embed="rId2"/>
          <a:stretch>
            <a:fillRect/>
          </a:stretch>
        </p:blipFill>
        <p:spPr>
          <a:xfrm>
            <a:off x="11027833" y="317431"/>
            <a:ext cx="811391" cy="790587"/>
          </a:xfrm>
          <a:prstGeom prst="rect">
            <a:avLst/>
          </a:prstGeom>
        </p:spPr>
      </p:pic>
    </p:spTree>
    <p:extLst>
      <p:ext uri="{BB962C8B-B14F-4D97-AF65-F5344CB8AC3E}">
        <p14:creationId xmlns:p14="http://schemas.microsoft.com/office/powerpoint/2010/main" val="324682850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5C11DF48-6A7C-3349-8650-2AA87E5D5E66}"/>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95D61C96-3D9F-F745-A812-5EC81CEB48F4}"/>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3F61D3C-242D-F544-9883-3EEF515CE808}"/>
              </a:ext>
            </a:extLst>
          </p:cNvPr>
          <p:cNvSpPr>
            <a:spLocks noGrp="1"/>
          </p:cNvSpPr>
          <p:nvPr>
            <p:ph type="dt" sz="half" idx="10"/>
          </p:nvPr>
        </p:nvSpPr>
        <p:spPr/>
        <p:txBody>
          <a:bodyPr/>
          <a:lstStyle/>
          <a:p>
            <a:fld id="{BD986248-06F7-A441-A47A-264EBD310E11}" type="datetimeFigureOut">
              <a:rPr lang="es-CO" smtClean="0"/>
              <a:t>20/08/2026</a:t>
            </a:fld>
            <a:endParaRPr lang="es-CO"/>
          </a:p>
        </p:txBody>
      </p:sp>
      <p:sp>
        <p:nvSpPr>
          <p:cNvPr id="5" name="Marcador de pie de página 4">
            <a:extLst>
              <a:ext uri="{FF2B5EF4-FFF2-40B4-BE49-F238E27FC236}">
                <a16:creationId xmlns:a16="http://schemas.microsoft.com/office/drawing/2014/main" id="{CCAB2518-6961-A143-A5EE-C5606EBA4863}"/>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586FEAD3-1533-7A45-8011-C0C84A1DCD46}"/>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338162162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Encabezado de sección">
    <p:spTree>
      <p:nvGrpSpPr>
        <p:cNvPr id="1" name=""/>
        <p:cNvGrpSpPr/>
        <p:nvPr/>
      </p:nvGrpSpPr>
      <p:grpSpPr>
        <a:xfrm>
          <a:off x="0" y="0"/>
          <a:ext cx="0" cy="0"/>
          <a:chOff x="0" y="0"/>
          <a:chExt cx="0" cy="0"/>
        </a:xfrm>
      </p:grpSpPr>
      <p:pic>
        <p:nvPicPr>
          <p:cNvPr id="6" name="Imagen 5" descr="Patrón de fondo&#10;&#10;Descripción generada automáticamente">
            <a:extLst>
              <a:ext uri="{FF2B5EF4-FFF2-40B4-BE49-F238E27FC236}">
                <a16:creationId xmlns:a16="http://schemas.microsoft.com/office/drawing/2014/main" id="{EDE1298D-A4F7-F1E4-F1B3-3D2F5117E046}"/>
              </a:ext>
            </a:extLst>
          </p:cNvPr>
          <p:cNvPicPr>
            <a:picLocks noChangeAspect="1"/>
          </p:cNvPicPr>
          <p:nvPr userDrawn="1"/>
        </p:nvPicPr>
        <p:blipFill>
          <a:blip r:embed="rId2"/>
          <a:stretch>
            <a:fillRect/>
          </a:stretch>
        </p:blipFill>
        <p:spPr>
          <a:xfrm>
            <a:off x="0" y="0"/>
            <a:ext cx="12192000" cy="6858000"/>
          </a:xfrm>
          <a:prstGeom prst="rect">
            <a:avLst/>
          </a:prstGeom>
        </p:spPr>
      </p:pic>
      <p:pic>
        <p:nvPicPr>
          <p:cNvPr id="4" name="Imagen 3">
            <a:extLst>
              <a:ext uri="{FF2B5EF4-FFF2-40B4-BE49-F238E27FC236}">
                <a16:creationId xmlns:a16="http://schemas.microsoft.com/office/drawing/2014/main" id="{69B39820-C822-5D71-439D-76D8E95C16E9}"/>
              </a:ext>
            </a:extLst>
          </p:cNvPr>
          <p:cNvPicPr>
            <a:picLocks noChangeAspect="1"/>
          </p:cNvPicPr>
          <p:nvPr userDrawn="1"/>
        </p:nvPicPr>
        <p:blipFill>
          <a:blip r:embed="rId3"/>
          <a:stretch>
            <a:fillRect/>
          </a:stretch>
        </p:blipFill>
        <p:spPr>
          <a:xfrm>
            <a:off x="11054859" y="303050"/>
            <a:ext cx="855785" cy="833982"/>
          </a:xfrm>
          <a:prstGeom prst="rect">
            <a:avLst/>
          </a:prstGeom>
        </p:spPr>
      </p:pic>
    </p:spTree>
    <p:extLst>
      <p:ext uri="{BB962C8B-B14F-4D97-AF65-F5344CB8AC3E}">
        <p14:creationId xmlns:p14="http://schemas.microsoft.com/office/powerpoint/2010/main" val="337036038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seño personalizad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CE09D5-8681-04F4-0AD1-7206C3FF51F4}"/>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8EB62C8D-42BE-8DF8-DDA7-6DDCB2389C42}"/>
              </a:ext>
            </a:extLst>
          </p:cNvPr>
          <p:cNvSpPr>
            <a:spLocks noGrp="1"/>
          </p:cNvSpPr>
          <p:nvPr>
            <p:ph type="dt" sz="half" idx="10"/>
          </p:nvPr>
        </p:nvSpPr>
        <p:spPr/>
        <p:txBody>
          <a:bodyPr/>
          <a:lstStyle/>
          <a:p>
            <a:fld id="{BD986248-06F7-A441-A47A-264EBD310E11}" type="datetimeFigureOut">
              <a:rPr lang="es-CO" smtClean="0"/>
              <a:t>20/08/2026</a:t>
            </a:fld>
            <a:endParaRPr lang="es-CO"/>
          </a:p>
        </p:txBody>
      </p:sp>
      <p:sp>
        <p:nvSpPr>
          <p:cNvPr id="4" name="Marcador de pie de página 3">
            <a:extLst>
              <a:ext uri="{FF2B5EF4-FFF2-40B4-BE49-F238E27FC236}">
                <a16:creationId xmlns:a16="http://schemas.microsoft.com/office/drawing/2014/main" id="{19F9D5C3-AD35-C818-D069-AB2D8EBBEEF8}"/>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E106A169-E84D-2DE1-E7CC-7058F9C00ADE}"/>
              </a:ext>
            </a:extLst>
          </p:cNvPr>
          <p:cNvSpPr>
            <a:spLocks noGrp="1"/>
          </p:cNvSpPr>
          <p:nvPr>
            <p:ph type="sldNum" sz="quarter" idx="12"/>
          </p:nvPr>
        </p:nvSpPr>
        <p:spPr/>
        <p:txBody>
          <a:bodyPr/>
          <a:lstStyle/>
          <a:p>
            <a:fld id="{63E15DF6-230E-2E43-B847-68755106EC6D}" type="slidenum">
              <a:rPr lang="es-CO" smtClean="0"/>
              <a:t>‹Nº›</a:t>
            </a:fld>
            <a:endParaRPr lang="es-CO"/>
          </a:p>
        </p:txBody>
      </p:sp>
    </p:spTree>
    <p:extLst>
      <p:ext uri="{BB962C8B-B14F-4D97-AF65-F5344CB8AC3E}">
        <p14:creationId xmlns:p14="http://schemas.microsoft.com/office/powerpoint/2010/main" val="31456598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Diapositiva de título">
    <p:spTree>
      <p:nvGrpSpPr>
        <p:cNvPr id="1" name=""/>
        <p:cNvGrpSpPr/>
        <p:nvPr/>
      </p:nvGrpSpPr>
      <p:grpSpPr>
        <a:xfrm>
          <a:off x="0" y="0"/>
          <a:ext cx="0" cy="0"/>
          <a:chOff x="0" y="0"/>
          <a:chExt cx="0" cy="0"/>
        </a:xfrm>
      </p:grpSpPr>
      <p:pic>
        <p:nvPicPr>
          <p:cNvPr id="3" name="Imagen 2" descr="Interfaz de usuario gráfica, Texto, Aplicación&#10;&#10;Descripción generada automáticamente">
            <a:extLst>
              <a:ext uri="{FF2B5EF4-FFF2-40B4-BE49-F238E27FC236}">
                <a16:creationId xmlns:a16="http://schemas.microsoft.com/office/drawing/2014/main" id="{7DFF890D-F3AC-9928-32A3-F179DB21A0E8}"/>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5849469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C6EFFBE1-33C9-1D48-A916-7535B68EC67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F778E02A-26CF-6C46-A280-67C4AA05513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6CE7CDF9-2DDE-C04D-A9B9-78F138A1C3D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D986248-06F7-A441-A47A-264EBD310E11}" type="datetimeFigureOut">
              <a:rPr lang="es-CO" smtClean="0"/>
              <a:t>20/08/2026</a:t>
            </a:fld>
            <a:endParaRPr lang="es-CO"/>
          </a:p>
        </p:txBody>
      </p:sp>
      <p:sp>
        <p:nvSpPr>
          <p:cNvPr id="5" name="Marcador de pie de página 4">
            <a:extLst>
              <a:ext uri="{FF2B5EF4-FFF2-40B4-BE49-F238E27FC236}">
                <a16:creationId xmlns:a16="http://schemas.microsoft.com/office/drawing/2014/main" id="{767570B4-267C-034E-B58B-04C03C9E552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5041693D-7DB1-1144-97E3-85753EC9A0C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3E15DF6-230E-2E43-B847-68755106EC6D}" type="slidenum">
              <a:rPr lang="es-CO" smtClean="0"/>
              <a:t>‹Nº›</a:t>
            </a:fld>
            <a:endParaRPr lang="es-CO"/>
          </a:p>
        </p:txBody>
      </p:sp>
    </p:spTree>
    <p:extLst>
      <p:ext uri="{BB962C8B-B14F-4D97-AF65-F5344CB8AC3E}">
        <p14:creationId xmlns:p14="http://schemas.microsoft.com/office/powerpoint/2010/main" val="30626094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62" r:id="rId11"/>
    <p:sldLayoutId id="2147483659" r:id="rId12"/>
    <p:sldLayoutId id="2147483663" r:id="rId13"/>
    <p:sldLayoutId id="2147483675" r:id="rId14"/>
    <p:sldLayoutId id="2147483673"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5.xml"/><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png"/><Relationship Id="rId1" Type="http://schemas.openxmlformats.org/officeDocument/2006/relationships/slideLayout" Target="../slideLayouts/slideLayout13.xml"/><Relationship Id="rId5" Type="http://schemas.openxmlformats.org/officeDocument/2006/relationships/image" Target="../media/image11.jpe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8.png"/><Relationship Id="rId1" Type="http://schemas.openxmlformats.org/officeDocument/2006/relationships/slideLayout" Target="../slideLayouts/slideLayout11.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4.png"/><Relationship Id="rId1" Type="http://schemas.openxmlformats.org/officeDocument/2006/relationships/slideLayout" Target="../slideLayouts/slideLayout13.xml"/><Relationship Id="rId5" Type="http://schemas.openxmlformats.org/officeDocument/2006/relationships/image" Target="../media/image12.jpe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0.jpeg"/><Relationship Id="rId1" Type="http://schemas.openxmlformats.org/officeDocument/2006/relationships/slideLayout" Target="../slideLayouts/slideLayout13.xml"/><Relationship Id="rId4" Type="http://schemas.openxmlformats.org/officeDocument/2006/relationships/image" Target="../media/image13.jpe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0.jpeg"/><Relationship Id="rId1" Type="http://schemas.openxmlformats.org/officeDocument/2006/relationships/slideLayout" Target="../slideLayouts/slideLayout13.xml"/><Relationship Id="rId4" Type="http://schemas.openxmlformats.org/officeDocument/2006/relationships/image" Target="../media/image14.jpe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0.jpe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0.jpe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uadroTexto 6"/>
          <p:cNvSpPr txBox="1"/>
          <p:nvPr/>
        </p:nvSpPr>
        <p:spPr>
          <a:xfrm>
            <a:off x="1672755" y="2745360"/>
            <a:ext cx="3671772" cy="1754326"/>
          </a:xfrm>
          <a:prstGeom prst="rect">
            <a:avLst/>
          </a:prstGeom>
          <a:noFill/>
        </p:spPr>
        <p:txBody>
          <a:bodyPr wrap="square" lIns="91440" tIns="45720" rIns="91440" bIns="45720" rtlCol="0" anchor="t">
            <a:spAutoFit/>
          </a:bodyPr>
          <a:lstStyle/>
          <a:p>
            <a:r>
              <a:rPr lang="es-ES" sz="8000" b="1">
                <a:solidFill>
                  <a:schemeClr val="tx1">
                    <a:lumMod val="75000"/>
                    <a:lumOff val="25000"/>
                  </a:schemeClr>
                </a:solidFill>
                <a:latin typeface="Arial"/>
                <a:cs typeface="Arial"/>
              </a:rPr>
              <a:t>SIGAP</a:t>
            </a:r>
            <a:br>
              <a:rPr lang="es-ES" sz="8000" b="1">
                <a:latin typeface="Work Sans"/>
              </a:rPr>
            </a:br>
            <a:r>
              <a:rPr lang="es-ES" sz="1400" b="1">
                <a:solidFill>
                  <a:schemeClr val="tx1">
                    <a:lumMod val="75000"/>
                    <a:lumOff val="25000"/>
                  </a:schemeClr>
                </a:solidFill>
                <a:latin typeface="Arial"/>
                <a:cs typeface="Arial"/>
              </a:rPr>
              <a:t>Sistema de gestión y administración para Panela Buenos Aires</a:t>
            </a:r>
          </a:p>
        </p:txBody>
      </p:sp>
      <p:sp>
        <p:nvSpPr>
          <p:cNvPr id="3" name="CuadroTexto 2">
            <a:extLst>
              <a:ext uri="{FF2B5EF4-FFF2-40B4-BE49-F238E27FC236}">
                <a16:creationId xmlns:a16="http://schemas.microsoft.com/office/drawing/2014/main" id="{8FBDEB08-DE5A-B0C2-B0FE-954002411545}"/>
              </a:ext>
            </a:extLst>
          </p:cNvPr>
          <p:cNvSpPr txBox="1">
            <a:spLocks/>
          </p:cNvSpPr>
          <p:nvPr/>
        </p:nvSpPr>
        <p:spPr>
          <a:xfrm>
            <a:off x="6498769" y="2761818"/>
            <a:ext cx="2001545" cy="1334363"/>
          </a:xfrm>
          <a:prstGeom prst="rect">
            <a:avLst/>
          </a:prstGeom>
          <a:noFill/>
          <a:ln>
            <a:solidFill>
              <a:schemeClr val="tx1"/>
            </a:solidFill>
          </a:ln>
        </p:spPr>
        <p:txBody>
          <a:bodyPr wrap="square" lIns="91440" tIns="45720" rIns="91440" bIns="45720" rtlCol="0" anchor="ctr" anchorCtr="0">
            <a:noAutofit/>
          </a:bodyPr>
          <a:lstStyle/>
          <a:p>
            <a:pPr algn="ctr"/>
            <a:r>
              <a:rPr lang="es-ES" sz="1600">
                <a:latin typeface="Work Sans Light"/>
              </a:rPr>
              <a:t>Logo Sistema</a:t>
            </a:r>
            <a:endParaRPr lang="es-CO" sz="1600">
              <a:latin typeface="Work Sans Light"/>
            </a:endParaRPr>
          </a:p>
        </p:txBody>
      </p:sp>
      <p:sp>
        <p:nvSpPr>
          <p:cNvPr id="5" name="CuadroTexto 4">
            <a:extLst>
              <a:ext uri="{FF2B5EF4-FFF2-40B4-BE49-F238E27FC236}">
                <a16:creationId xmlns:a16="http://schemas.microsoft.com/office/drawing/2014/main" id="{73C65CF2-4CAC-4B81-D093-E60894228000}"/>
              </a:ext>
            </a:extLst>
          </p:cNvPr>
          <p:cNvSpPr txBox="1">
            <a:spLocks/>
          </p:cNvSpPr>
          <p:nvPr/>
        </p:nvSpPr>
        <p:spPr>
          <a:xfrm>
            <a:off x="8500314" y="2761818"/>
            <a:ext cx="2001545" cy="1334363"/>
          </a:xfrm>
          <a:prstGeom prst="rect">
            <a:avLst/>
          </a:prstGeom>
          <a:noFill/>
          <a:ln>
            <a:solidFill>
              <a:schemeClr val="tx1"/>
            </a:solidFill>
          </a:ln>
        </p:spPr>
        <p:txBody>
          <a:bodyPr wrap="square" rtlCol="0" anchor="ctr" anchorCtr="0">
            <a:noAutofit/>
          </a:bodyPr>
          <a:lstStyle/>
          <a:p>
            <a:pPr algn="ctr"/>
            <a:r>
              <a:rPr lang="es-ES" sz="1600">
                <a:latin typeface="Work Sans Light" pitchFamily="2" charset="77"/>
              </a:rPr>
              <a:t>Logo Empresa</a:t>
            </a:r>
          </a:p>
        </p:txBody>
      </p:sp>
      <p:pic>
        <p:nvPicPr>
          <p:cNvPr id="2" name="Imagen 1" descr="Interfaz de usuario gráfica, Aplicación, Teams&#10;&#10;El contenido generado por IA puede ser incorrecto.">
            <a:extLst>
              <a:ext uri="{FF2B5EF4-FFF2-40B4-BE49-F238E27FC236}">
                <a16:creationId xmlns:a16="http://schemas.microsoft.com/office/drawing/2014/main" id="{111F4F8D-ED76-3D46-BAF4-0C9CBEC09D0F}"/>
              </a:ext>
            </a:extLst>
          </p:cNvPr>
          <p:cNvPicPr>
            <a:picLocks noChangeAspect="1"/>
          </p:cNvPicPr>
          <p:nvPr/>
        </p:nvPicPr>
        <p:blipFill>
          <a:blip r:embed="rId3"/>
          <a:stretch>
            <a:fillRect/>
          </a:stretch>
        </p:blipFill>
        <p:spPr>
          <a:xfrm>
            <a:off x="6495371" y="2751894"/>
            <a:ext cx="2007355" cy="1366308"/>
          </a:xfrm>
          <a:prstGeom prst="rect">
            <a:avLst/>
          </a:prstGeom>
        </p:spPr>
      </p:pic>
      <p:pic>
        <p:nvPicPr>
          <p:cNvPr id="4" name="Imagen 3" descr="Logotipo&#10;&#10;El contenido generado por IA puede ser incorrecto.">
            <a:extLst>
              <a:ext uri="{FF2B5EF4-FFF2-40B4-BE49-F238E27FC236}">
                <a16:creationId xmlns:a16="http://schemas.microsoft.com/office/drawing/2014/main" id="{14F37330-CAF7-2220-F1C8-61C454F5DD04}"/>
              </a:ext>
            </a:extLst>
          </p:cNvPr>
          <p:cNvPicPr>
            <a:picLocks noChangeAspect="1"/>
          </p:cNvPicPr>
          <p:nvPr/>
        </p:nvPicPr>
        <p:blipFill>
          <a:blip r:embed="rId4"/>
          <a:stretch>
            <a:fillRect/>
          </a:stretch>
        </p:blipFill>
        <p:spPr>
          <a:xfrm>
            <a:off x="8507790" y="2756505"/>
            <a:ext cx="1986038" cy="1344991"/>
          </a:xfrm>
          <a:prstGeom prst="rect">
            <a:avLst/>
          </a:prstGeom>
        </p:spPr>
      </p:pic>
    </p:spTree>
    <p:extLst>
      <p:ext uri="{BB962C8B-B14F-4D97-AF65-F5344CB8AC3E}">
        <p14:creationId xmlns:p14="http://schemas.microsoft.com/office/powerpoint/2010/main" val="30796166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B78A6207-2D79-A9F8-E09D-30C60C0067DF}"/>
              </a:ext>
            </a:extLst>
          </p:cNvPr>
          <p:cNvSpPr txBox="1"/>
          <p:nvPr/>
        </p:nvSpPr>
        <p:spPr>
          <a:xfrm>
            <a:off x="1062873" y="748014"/>
            <a:ext cx="10076788" cy="1938992"/>
          </a:xfrm>
          <a:prstGeom prst="rect">
            <a:avLst/>
          </a:prstGeom>
          <a:noFill/>
        </p:spPr>
        <p:txBody>
          <a:bodyPr wrap="square" lIns="91440" tIns="45720" rIns="91440" bIns="45720" rtlCol="0" anchor="t">
            <a:spAutoFit/>
          </a:bodyPr>
          <a:lstStyle/>
          <a:p>
            <a:pPr algn="ctr"/>
            <a:r>
              <a:rPr lang="es-ES" sz="2400" b="1">
                <a:solidFill>
                  <a:schemeClr val="bg1"/>
                </a:solidFill>
                <a:effectLst>
                  <a:outerShdw blurRad="38100" dist="38100" dir="2700000" algn="tl">
                    <a:srgbClr val="000000">
                      <a:alpha val="43137"/>
                    </a:srgbClr>
                  </a:outerShdw>
                </a:effectLst>
                <a:latin typeface="Arial"/>
                <a:cs typeface="Arial"/>
              </a:rPr>
              <a:t>SIGAP</a:t>
            </a:r>
            <a:br>
              <a:rPr lang="es-ES" sz="2400" b="1">
                <a:solidFill>
                  <a:schemeClr val="bg1"/>
                </a:solidFill>
                <a:effectLst>
                  <a:outerShdw blurRad="38100" dist="38100" dir="2700000" algn="tl">
                    <a:srgbClr val="000000">
                      <a:alpha val="43137"/>
                    </a:srgbClr>
                  </a:outerShdw>
                </a:effectLst>
                <a:latin typeface="Arial"/>
                <a:cs typeface="Arial"/>
              </a:rPr>
            </a:br>
            <a:r>
              <a:rPr lang="es-ES" sz="2400" b="1">
                <a:solidFill>
                  <a:schemeClr val="bg1"/>
                </a:solidFill>
                <a:effectLst>
                  <a:outerShdw blurRad="38100" dist="38100" dir="2700000" algn="tl">
                    <a:srgbClr val="000000">
                      <a:alpha val="43137"/>
                    </a:srgbClr>
                  </a:outerShdw>
                </a:effectLst>
                <a:latin typeface="Arial"/>
                <a:cs typeface="Arial"/>
              </a:rPr>
              <a:t>Sistema de gestión y administración para Panela Buenos Aires</a:t>
            </a:r>
            <a:endParaRPr lang="es-CO" sz="2400">
              <a:solidFill>
                <a:schemeClr val="bg1"/>
              </a:solidFill>
              <a:effectLst>
                <a:outerShdw blurRad="38100" dist="38100" dir="2700000" algn="tl">
                  <a:srgbClr val="000000">
                    <a:alpha val="43137"/>
                  </a:srgbClr>
                </a:outerShdw>
              </a:effectLst>
              <a:latin typeface="Arial"/>
              <a:cs typeface="Arial"/>
            </a:endParaRPr>
          </a:p>
          <a:p>
            <a:pPr algn="ctr"/>
            <a:endParaRPr lang="es-CO" sz="7200">
              <a:solidFill>
                <a:schemeClr val="bg1"/>
              </a:solidFill>
              <a:effectLst>
                <a:outerShdw blurRad="38100" dist="38100" dir="2700000" algn="tl">
                  <a:srgbClr val="000000">
                    <a:alpha val="43137"/>
                  </a:srgbClr>
                </a:outerShdw>
              </a:effectLst>
              <a:latin typeface="Work Sans Light"/>
            </a:endParaRPr>
          </a:p>
        </p:txBody>
      </p:sp>
      <p:sp>
        <p:nvSpPr>
          <p:cNvPr id="8" name="CuadroTexto 7">
            <a:extLst>
              <a:ext uri="{FF2B5EF4-FFF2-40B4-BE49-F238E27FC236}">
                <a16:creationId xmlns:a16="http://schemas.microsoft.com/office/drawing/2014/main" id="{9FA07BD2-A8DB-FF10-1E30-572887632351}"/>
              </a:ext>
            </a:extLst>
          </p:cNvPr>
          <p:cNvSpPr txBox="1"/>
          <p:nvPr/>
        </p:nvSpPr>
        <p:spPr>
          <a:xfrm>
            <a:off x="3527768" y="2084867"/>
            <a:ext cx="5136462" cy="1938992"/>
          </a:xfrm>
          <a:prstGeom prst="rect">
            <a:avLst/>
          </a:prstGeom>
          <a:noFill/>
        </p:spPr>
        <p:txBody>
          <a:bodyPr wrap="square" lIns="91440" tIns="45720" rIns="91440" bIns="45720" rtlCol="0" anchor="t">
            <a:spAutoFit/>
          </a:bodyPr>
          <a:lstStyle/>
          <a:p>
            <a:pPr algn="ctr"/>
            <a:r>
              <a:rPr lang="es-ES" sz="2400" dirty="0">
                <a:solidFill>
                  <a:schemeClr val="bg1"/>
                </a:solidFill>
                <a:effectLst>
                  <a:outerShdw blurRad="38100" dist="38100" dir="2700000" algn="tl">
                    <a:srgbClr val="000000">
                      <a:alpha val="43137"/>
                    </a:srgbClr>
                  </a:outerShdw>
                </a:effectLst>
                <a:latin typeface="Arial"/>
                <a:cs typeface="Arial"/>
              </a:rPr>
              <a:t>Cecil Daniel Pimienta Pedrozo</a:t>
            </a:r>
            <a:endParaRPr lang="es-ES" sz="2400" dirty="0">
              <a:solidFill>
                <a:schemeClr val="bg1"/>
              </a:solidFill>
              <a:latin typeface="Arial"/>
              <a:ea typeface="Calibri" panose="020F0502020204030204"/>
              <a:cs typeface="Arial"/>
            </a:endParaRPr>
          </a:p>
          <a:p>
            <a:pPr algn="ctr"/>
            <a:endParaRPr lang="es-ES" sz="2400" dirty="0">
              <a:solidFill>
                <a:schemeClr val="bg1"/>
              </a:solidFill>
              <a:effectLst>
                <a:outerShdw blurRad="38100" dist="38100" dir="2700000" algn="tl">
                  <a:srgbClr val="000000">
                    <a:alpha val="43137"/>
                  </a:srgbClr>
                </a:outerShdw>
              </a:effectLst>
              <a:latin typeface="Arial"/>
              <a:cs typeface="Arial"/>
            </a:endParaRPr>
          </a:p>
          <a:p>
            <a:pPr algn="ctr"/>
            <a:r>
              <a:rPr lang="es-ES" sz="2400" dirty="0">
                <a:solidFill>
                  <a:schemeClr val="bg1"/>
                </a:solidFill>
                <a:effectLst>
                  <a:outerShdw blurRad="38100" dist="38100" dir="2700000" algn="tl">
                    <a:srgbClr val="000000">
                      <a:alpha val="43137"/>
                    </a:srgbClr>
                  </a:outerShdw>
                </a:effectLst>
                <a:latin typeface="Arial"/>
                <a:cs typeface="Arial"/>
              </a:rPr>
              <a:t>Bryan Soriano</a:t>
            </a:r>
            <a:endParaRPr lang="es-ES" sz="2400" dirty="0">
              <a:solidFill>
                <a:schemeClr val="bg1"/>
              </a:solidFill>
              <a:effectLst>
                <a:outerShdw blurRad="38100" dist="38100" dir="2700000" algn="tl">
                  <a:srgbClr val="000000">
                    <a:alpha val="43137"/>
                  </a:srgbClr>
                </a:outerShdw>
              </a:effectLst>
              <a:latin typeface="Work Sans Light"/>
              <a:ea typeface="Calibri"/>
              <a:cs typeface="Calibri"/>
            </a:endParaRPr>
          </a:p>
          <a:p>
            <a:pPr algn="ctr"/>
            <a:br>
              <a:rPr lang="es-ES" sz="2400" dirty="0">
                <a:effectLst>
                  <a:outerShdw blurRad="38100" dist="38100" dir="2700000" algn="tl">
                    <a:srgbClr val="000000">
                      <a:alpha val="43137"/>
                    </a:srgbClr>
                  </a:outerShdw>
                </a:effectLst>
                <a:latin typeface="Arial"/>
                <a:cs typeface="Arial"/>
              </a:rPr>
            </a:br>
            <a:r>
              <a:rPr lang="es-ES" sz="2400" dirty="0">
                <a:solidFill>
                  <a:schemeClr val="bg1"/>
                </a:solidFill>
                <a:effectLst>
                  <a:outerShdw blurRad="38100" dist="38100" dir="2700000" algn="tl">
                    <a:srgbClr val="000000">
                      <a:alpha val="43137"/>
                    </a:srgbClr>
                  </a:outerShdw>
                </a:effectLst>
                <a:latin typeface="Arial"/>
                <a:cs typeface="Arial"/>
              </a:rPr>
              <a:t>Sebastian Loboa Salazar</a:t>
            </a:r>
            <a:endParaRPr lang="es-ES" sz="2400" dirty="0">
              <a:solidFill>
                <a:schemeClr val="bg1"/>
              </a:solidFill>
              <a:effectLst>
                <a:outerShdw blurRad="38100" dist="38100" dir="2700000" algn="tl">
                  <a:srgbClr val="000000">
                    <a:alpha val="43137"/>
                  </a:srgbClr>
                </a:outerShdw>
              </a:effectLst>
              <a:latin typeface="Work Sans Light"/>
              <a:ea typeface="Calibri"/>
              <a:cs typeface="Calibri"/>
            </a:endParaRPr>
          </a:p>
        </p:txBody>
      </p:sp>
      <p:sp>
        <p:nvSpPr>
          <p:cNvPr id="9" name="CuadroTexto 8">
            <a:extLst>
              <a:ext uri="{FF2B5EF4-FFF2-40B4-BE49-F238E27FC236}">
                <a16:creationId xmlns:a16="http://schemas.microsoft.com/office/drawing/2014/main" id="{2F385990-7F30-A8ED-0FEA-F8EAC01BD49D}"/>
              </a:ext>
            </a:extLst>
          </p:cNvPr>
          <p:cNvSpPr txBox="1"/>
          <p:nvPr/>
        </p:nvSpPr>
        <p:spPr>
          <a:xfrm>
            <a:off x="1068888" y="5279998"/>
            <a:ext cx="10054224" cy="1077218"/>
          </a:xfrm>
          <a:prstGeom prst="rect">
            <a:avLst/>
          </a:prstGeom>
          <a:noFill/>
        </p:spPr>
        <p:txBody>
          <a:bodyPr wrap="square" lIns="91440" tIns="45720" rIns="91440" bIns="45720" rtlCol="0" anchor="t">
            <a:spAutoFit/>
          </a:bodyPr>
          <a:lstStyle/>
          <a:p>
            <a:pPr algn="ctr"/>
            <a:r>
              <a:rPr lang="es-ES" sz="1600" b="1">
                <a:solidFill>
                  <a:schemeClr val="bg1"/>
                </a:solidFill>
                <a:effectLst>
                  <a:outerShdw blurRad="38100" dist="38100" dir="2700000" algn="tl">
                    <a:srgbClr val="000000">
                      <a:alpha val="43137"/>
                    </a:srgbClr>
                  </a:outerShdw>
                </a:effectLst>
                <a:latin typeface="Work Sans Light" pitchFamily="2" charset="77"/>
              </a:rPr>
              <a:t>Servicio Nacional de Aprendizaje –SENA, Centro de Electricidad Electrónica y Telecomunicaciones</a:t>
            </a:r>
          </a:p>
          <a:p>
            <a:pPr algn="ctr"/>
            <a:r>
              <a:rPr lang="es-ES" sz="1600" b="1">
                <a:solidFill>
                  <a:schemeClr val="bg1"/>
                </a:solidFill>
                <a:effectLst>
                  <a:outerShdw blurRad="38100" dist="38100" dir="2700000" algn="tl">
                    <a:srgbClr val="000000">
                      <a:alpha val="43137"/>
                    </a:srgbClr>
                  </a:outerShdw>
                </a:effectLst>
                <a:latin typeface="Work Sans Light"/>
              </a:rPr>
              <a:t>Tecnólogo en análisis y desarrollo de software ADSO, Primer Trimestre</a:t>
            </a:r>
          </a:p>
          <a:p>
            <a:pPr algn="ctr"/>
            <a:r>
              <a:rPr lang="es-ES" sz="1600" b="1">
                <a:solidFill>
                  <a:schemeClr val="bg1"/>
                </a:solidFill>
                <a:effectLst>
                  <a:outerShdw blurRad="38100" dist="38100" dir="2700000" algn="tl">
                    <a:srgbClr val="000000">
                      <a:alpha val="43137"/>
                    </a:srgbClr>
                  </a:outerShdw>
                </a:effectLst>
                <a:latin typeface="Work Sans Light" pitchFamily="2" charset="77"/>
              </a:rPr>
              <a:t>Instructor Albeiro Ramos</a:t>
            </a:r>
          </a:p>
          <a:p>
            <a:pPr algn="ctr"/>
            <a:r>
              <a:rPr lang="es-ES" sz="1600" b="1">
                <a:solidFill>
                  <a:schemeClr val="bg1"/>
                </a:solidFill>
                <a:effectLst>
                  <a:outerShdw blurRad="38100" dist="38100" dir="2700000" algn="tl">
                    <a:srgbClr val="000000">
                      <a:alpha val="43137"/>
                    </a:srgbClr>
                  </a:outerShdw>
                </a:effectLst>
                <a:latin typeface="Work Sans Light"/>
              </a:rPr>
              <a:t>Bogotá, 01 de Abril de 2026</a:t>
            </a:r>
            <a:endParaRPr lang="es-CO" sz="1600" b="1">
              <a:solidFill>
                <a:schemeClr val="bg1"/>
              </a:solidFill>
              <a:effectLst>
                <a:outerShdw blurRad="38100" dist="38100" dir="2700000" algn="tl">
                  <a:srgbClr val="000000">
                    <a:alpha val="43137"/>
                  </a:srgbClr>
                </a:outerShdw>
              </a:effectLst>
              <a:latin typeface="Work Sans Light"/>
            </a:endParaRPr>
          </a:p>
        </p:txBody>
      </p:sp>
    </p:spTree>
    <p:extLst>
      <p:ext uri="{BB962C8B-B14F-4D97-AF65-F5344CB8AC3E}">
        <p14:creationId xmlns:p14="http://schemas.microsoft.com/office/powerpoint/2010/main" val="16207879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EE37A3CD-1BAC-6175-4755-9AC66A46B6FF}"/>
              </a:ext>
            </a:extLst>
          </p:cNvPr>
          <p:cNvSpPr txBox="1">
            <a:spLocks/>
          </p:cNvSpPr>
          <p:nvPr/>
        </p:nvSpPr>
        <p:spPr>
          <a:xfrm>
            <a:off x="1041709" y="647321"/>
            <a:ext cx="4228359" cy="67659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b="1">
                <a:latin typeface="Arial"/>
                <a:cs typeface="Arial"/>
              </a:rPr>
              <a:t>INTRODUCCIÓN</a:t>
            </a:r>
            <a:endParaRPr lang="es-ES">
              <a:ea typeface="Calibri Light" panose="020F0302020204030204"/>
              <a:cs typeface="Calibri Light" panose="020F0302020204030204"/>
            </a:endParaRPr>
          </a:p>
        </p:txBody>
      </p:sp>
      <p:sp>
        <p:nvSpPr>
          <p:cNvPr id="7" name="CuadroTexto 6">
            <a:extLst>
              <a:ext uri="{FF2B5EF4-FFF2-40B4-BE49-F238E27FC236}">
                <a16:creationId xmlns:a16="http://schemas.microsoft.com/office/drawing/2014/main" id="{FBAA83CA-F5E1-3945-40AB-1CB1B233A0BF}"/>
              </a:ext>
            </a:extLst>
          </p:cNvPr>
          <p:cNvSpPr txBox="1"/>
          <p:nvPr/>
        </p:nvSpPr>
        <p:spPr>
          <a:xfrm>
            <a:off x="1037039" y="2598302"/>
            <a:ext cx="5200363" cy="2800767"/>
          </a:xfrm>
          <a:prstGeom prst="rect">
            <a:avLst/>
          </a:prstGeom>
          <a:noFill/>
        </p:spPr>
        <p:txBody>
          <a:bodyPr wrap="square" lIns="91440" tIns="45720" rIns="91440" bIns="45720" rtlCol="0" anchor="t">
            <a:spAutoFit/>
          </a:bodyPr>
          <a:lstStyle/>
          <a:p>
            <a:r>
              <a:rPr lang="es-ES" sz="2000" dirty="0">
                <a:latin typeface="Arial"/>
                <a:cs typeface="Arial"/>
              </a:rPr>
              <a:t>En la presente presentación se expone todo lo relacionado con el problema, objetivo, </a:t>
            </a:r>
            <a:r>
              <a:rPr lang="es-ES" sz="2000">
                <a:latin typeface="Arial"/>
                <a:cs typeface="Arial"/>
              </a:rPr>
              <a:t>justificación, alcance y delimitación  del proyecto SIGAP (Sistema de </a:t>
            </a:r>
            <a:r>
              <a:rPr lang="es-ES" sz="2000" dirty="0">
                <a:latin typeface="Arial"/>
                <a:cs typeface="Arial"/>
              </a:rPr>
              <a:t>Gestión y Administración para Panela Buenos Aires), propuesto para la empresa Panela Buenos Aires, con el fin de optimizar procesos logísticos y productivos.</a:t>
            </a:r>
            <a:endParaRPr lang="es-ES" sz="2000" dirty="0"/>
          </a:p>
          <a:p>
            <a:endParaRPr lang="es-CO" sz="1600">
              <a:latin typeface="Work Sans Light" pitchFamily="2" charset="77"/>
            </a:endParaRPr>
          </a:p>
        </p:txBody>
      </p:sp>
      <p:pic>
        <p:nvPicPr>
          <p:cNvPr id="3" name="Imagen 2" descr="Interfaz de usuario gráfica, Aplicación, Teams&#10;&#10;El contenido generado por IA puede ser incorrecto.">
            <a:extLst>
              <a:ext uri="{FF2B5EF4-FFF2-40B4-BE49-F238E27FC236}">
                <a16:creationId xmlns:a16="http://schemas.microsoft.com/office/drawing/2014/main" id="{8EFAA935-E53E-71AE-5343-41C46AE4751E}"/>
              </a:ext>
            </a:extLst>
          </p:cNvPr>
          <p:cNvPicPr>
            <a:picLocks noChangeAspect="1"/>
          </p:cNvPicPr>
          <p:nvPr/>
        </p:nvPicPr>
        <p:blipFill>
          <a:blip r:embed="rId3"/>
          <a:stretch>
            <a:fillRect/>
          </a:stretch>
        </p:blipFill>
        <p:spPr>
          <a:xfrm>
            <a:off x="8428113" y="449792"/>
            <a:ext cx="1238250" cy="1047750"/>
          </a:xfrm>
          <a:prstGeom prst="rect">
            <a:avLst/>
          </a:prstGeom>
        </p:spPr>
      </p:pic>
      <p:pic>
        <p:nvPicPr>
          <p:cNvPr id="6" name="Imagen 5" descr="Logotipo&#10;&#10;El contenido generado por IA puede ser incorrecto.">
            <a:extLst>
              <a:ext uri="{FF2B5EF4-FFF2-40B4-BE49-F238E27FC236}">
                <a16:creationId xmlns:a16="http://schemas.microsoft.com/office/drawing/2014/main" id="{DFF1EC31-E29A-F5E5-DC7B-58CFCA450841}"/>
              </a:ext>
            </a:extLst>
          </p:cNvPr>
          <p:cNvPicPr>
            <a:picLocks noChangeAspect="1"/>
          </p:cNvPicPr>
          <p:nvPr/>
        </p:nvPicPr>
        <p:blipFill>
          <a:blip r:embed="rId4"/>
          <a:stretch>
            <a:fillRect/>
          </a:stretch>
        </p:blipFill>
        <p:spPr>
          <a:xfrm>
            <a:off x="9668933" y="446315"/>
            <a:ext cx="1199849" cy="1054706"/>
          </a:xfrm>
          <a:prstGeom prst="rect">
            <a:avLst/>
          </a:prstGeom>
        </p:spPr>
      </p:pic>
      <p:pic>
        <p:nvPicPr>
          <p:cNvPr id="2" name="Imagen 1" descr="Aprobado en primer debate proyecto de ley que busca salvaguardar la  producción tradicional de la panela y sus derivados">
            <a:extLst>
              <a:ext uri="{FF2B5EF4-FFF2-40B4-BE49-F238E27FC236}">
                <a16:creationId xmlns:a16="http://schemas.microsoft.com/office/drawing/2014/main" id="{D2710939-4DC6-8875-F1AE-4B31BF479CA7}"/>
              </a:ext>
            </a:extLst>
          </p:cNvPr>
          <p:cNvPicPr>
            <a:picLocks noChangeAspect="1"/>
          </p:cNvPicPr>
          <p:nvPr/>
        </p:nvPicPr>
        <p:blipFill>
          <a:blip r:embed="rId5"/>
          <a:stretch>
            <a:fillRect/>
          </a:stretch>
        </p:blipFill>
        <p:spPr>
          <a:xfrm>
            <a:off x="8193747" y="2600594"/>
            <a:ext cx="3295111" cy="2332546"/>
          </a:xfrm>
          <a:prstGeom prst="rect">
            <a:avLst/>
          </a:prstGeom>
        </p:spPr>
      </p:pic>
    </p:spTree>
    <p:extLst>
      <p:ext uri="{BB962C8B-B14F-4D97-AF65-F5344CB8AC3E}">
        <p14:creationId xmlns:p14="http://schemas.microsoft.com/office/powerpoint/2010/main" val="6853874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ítulo 1">
            <a:extLst>
              <a:ext uri="{FF2B5EF4-FFF2-40B4-BE49-F238E27FC236}">
                <a16:creationId xmlns:a16="http://schemas.microsoft.com/office/drawing/2014/main" id="{62CAF686-2B1F-2A4A-A0F2-CAE3CF59E65B}"/>
              </a:ext>
            </a:extLst>
          </p:cNvPr>
          <p:cNvSpPr txBox="1">
            <a:spLocks/>
          </p:cNvSpPr>
          <p:nvPr/>
        </p:nvSpPr>
        <p:spPr>
          <a:xfrm>
            <a:off x="456236" y="416689"/>
            <a:ext cx="10515600" cy="741563"/>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ES" sz="2400" b="1">
                <a:solidFill>
                  <a:schemeClr val="bg1"/>
                </a:solidFill>
                <a:latin typeface="Arial"/>
                <a:cs typeface="Arial"/>
              </a:rPr>
              <a:t>SIGAP</a:t>
            </a:r>
            <a:br>
              <a:rPr lang="es-ES" sz="2400" b="1">
                <a:solidFill>
                  <a:schemeClr val="bg1"/>
                </a:solidFill>
                <a:latin typeface="Arial"/>
                <a:cs typeface="Arial"/>
              </a:rPr>
            </a:br>
            <a:r>
              <a:rPr lang="es-ES" sz="2400" b="1">
                <a:solidFill>
                  <a:schemeClr val="bg1"/>
                </a:solidFill>
                <a:latin typeface="Arial"/>
                <a:cs typeface="Arial"/>
              </a:rPr>
              <a:t>Sistema de gestión y administración para Panela Buenos Aires</a:t>
            </a:r>
            <a:endParaRPr lang="es-CO" sz="2400">
              <a:solidFill>
                <a:srgbClr val="000000"/>
              </a:solidFill>
              <a:latin typeface="Arial"/>
              <a:cs typeface="Arial"/>
            </a:endParaRPr>
          </a:p>
          <a:p>
            <a:endParaRPr lang="es-CO">
              <a:solidFill>
                <a:schemeClr val="bg1"/>
              </a:solidFill>
              <a:latin typeface="Work Sans Medium"/>
              <a:cs typeface="Arial"/>
            </a:endParaRPr>
          </a:p>
        </p:txBody>
      </p:sp>
      <p:sp>
        <p:nvSpPr>
          <p:cNvPr id="2" name="CuadroTexto 1">
            <a:extLst>
              <a:ext uri="{FF2B5EF4-FFF2-40B4-BE49-F238E27FC236}">
                <a16:creationId xmlns:a16="http://schemas.microsoft.com/office/drawing/2014/main" id="{72D24723-360A-B357-B421-17CF33D4C0B4}"/>
              </a:ext>
            </a:extLst>
          </p:cNvPr>
          <p:cNvSpPr txBox="1">
            <a:spLocks/>
          </p:cNvSpPr>
          <p:nvPr/>
        </p:nvSpPr>
        <p:spPr>
          <a:xfrm>
            <a:off x="1263775" y="3237807"/>
            <a:ext cx="2001545" cy="1334363"/>
          </a:xfrm>
          <a:prstGeom prst="rect">
            <a:avLst/>
          </a:prstGeom>
          <a:noFill/>
          <a:ln>
            <a:solidFill>
              <a:schemeClr val="tx1"/>
            </a:solidFill>
          </a:ln>
        </p:spPr>
        <p:txBody>
          <a:bodyPr wrap="square" rtlCol="0" anchor="ctr" anchorCtr="0">
            <a:noAutofit/>
          </a:bodyPr>
          <a:lstStyle/>
          <a:p>
            <a:pPr algn="ctr"/>
            <a:r>
              <a:rPr lang="es-ES" sz="1600">
                <a:latin typeface="Work Sans Light" pitchFamily="2" charset="77"/>
              </a:rPr>
              <a:t>Logo Sistema</a:t>
            </a:r>
            <a:endParaRPr lang="es-CO" sz="1600">
              <a:latin typeface="Work Sans Light" pitchFamily="2" charset="77"/>
            </a:endParaRPr>
          </a:p>
        </p:txBody>
      </p:sp>
      <p:sp>
        <p:nvSpPr>
          <p:cNvPr id="4" name="CuadroTexto 3">
            <a:extLst>
              <a:ext uri="{FF2B5EF4-FFF2-40B4-BE49-F238E27FC236}">
                <a16:creationId xmlns:a16="http://schemas.microsoft.com/office/drawing/2014/main" id="{6CD37F32-D413-C0B0-1883-F0E6FE54B3BB}"/>
              </a:ext>
            </a:extLst>
          </p:cNvPr>
          <p:cNvSpPr txBox="1">
            <a:spLocks/>
          </p:cNvSpPr>
          <p:nvPr/>
        </p:nvSpPr>
        <p:spPr>
          <a:xfrm>
            <a:off x="3265320" y="3237807"/>
            <a:ext cx="2001545" cy="1334363"/>
          </a:xfrm>
          <a:prstGeom prst="rect">
            <a:avLst/>
          </a:prstGeom>
          <a:noFill/>
          <a:ln>
            <a:solidFill>
              <a:schemeClr val="tx1"/>
            </a:solidFill>
          </a:ln>
        </p:spPr>
        <p:txBody>
          <a:bodyPr wrap="square" rtlCol="0" anchor="ctr" anchorCtr="0">
            <a:noAutofit/>
          </a:bodyPr>
          <a:lstStyle/>
          <a:p>
            <a:pPr algn="ctr"/>
            <a:r>
              <a:rPr lang="es-ES" sz="1600">
                <a:latin typeface="Work Sans Light" pitchFamily="2" charset="77"/>
              </a:rPr>
              <a:t>Logo Empresa</a:t>
            </a:r>
          </a:p>
        </p:txBody>
      </p:sp>
      <p:sp>
        <p:nvSpPr>
          <p:cNvPr id="5" name="CuadroTexto 4">
            <a:extLst>
              <a:ext uri="{FF2B5EF4-FFF2-40B4-BE49-F238E27FC236}">
                <a16:creationId xmlns:a16="http://schemas.microsoft.com/office/drawing/2014/main" id="{7779D7A8-BEDD-C9DB-4CEE-7225220AFBCD}"/>
              </a:ext>
            </a:extLst>
          </p:cNvPr>
          <p:cNvSpPr txBox="1"/>
          <p:nvPr/>
        </p:nvSpPr>
        <p:spPr>
          <a:xfrm>
            <a:off x="6653014" y="2489547"/>
            <a:ext cx="4547336" cy="3046988"/>
          </a:xfrm>
          <a:prstGeom prst="rect">
            <a:avLst/>
          </a:prstGeom>
          <a:noFill/>
        </p:spPr>
        <p:txBody>
          <a:bodyPr wrap="square" lIns="91440" tIns="45720" rIns="91440" bIns="45720" rtlCol="0" anchor="t">
            <a:spAutoFit/>
          </a:bodyPr>
          <a:lstStyle/>
          <a:p>
            <a:r>
              <a:rPr lang="es-CO" sz="3200" b="1">
                <a:solidFill>
                  <a:srgbClr val="000000"/>
                </a:solidFill>
                <a:latin typeface="Work Sans Light"/>
              </a:rPr>
              <a:t>Problema</a:t>
            </a:r>
          </a:p>
          <a:p>
            <a:r>
              <a:rPr lang="es-CO" sz="3200" b="1">
                <a:solidFill>
                  <a:srgbClr val="000000"/>
                </a:solidFill>
                <a:latin typeface="Work Sans Light"/>
              </a:rPr>
              <a:t>Objetivos</a:t>
            </a:r>
          </a:p>
          <a:p>
            <a:r>
              <a:rPr lang="es-CO" sz="3200" b="1">
                <a:solidFill>
                  <a:srgbClr val="000000"/>
                </a:solidFill>
                <a:latin typeface="Work Sans Light"/>
              </a:rPr>
              <a:t>Justificación</a:t>
            </a:r>
          </a:p>
          <a:p>
            <a:r>
              <a:rPr lang="es-CO" sz="3200" b="1">
                <a:solidFill>
                  <a:srgbClr val="000000"/>
                </a:solidFill>
                <a:latin typeface="Work Sans Light"/>
              </a:rPr>
              <a:t>Alcance</a:t>
            </a:r>
          </a:p>
          <a:p>
            <a:r>
              <a:rPr lang="es-CO" sz="3200" b="1">
                <a:solidFill>
                  <a:srgbClr val="000000"/>
                </a:solidFill>
                <a:latin typeface="Work Sans Light"/>
              </a:rPr>
              <a:t>Delimitación</a:t>
            </a:r>
          </a:p>
          <a:p>
            <a:endParaRPr lang="es-CO" sz="3200" b="1">
              <a:latin typeface="Work Sans Light" pitchFamily="2" charset="77"/>
            </a:endParaRPr>
          </a:p>
        </p:txBody>
      </p:sp>
      <p:pic>
        <p:nvPicPr>
          <p:cNvPr id="7" name="Imagen 6" descr="Interfaz de usuario gráfica, Aplicación, Teams&#10;&#10;El contenido generado por IA puede ser incorrecto.">
            <a:extLst>
              <a:ext uri="{FF2B5EF4-FFF2-40B4-BE49-F238E27FC236}">
                <a16:creationId xmlns:a16="http://schemas.microsoft.com/office/drawing/2014/main" id="{6BD15797-608D-7D61-FEE9-7B9B1B63F0D9}"/>
              </a:ext>
            </a:extLst>
          </p:cNvPr>
          <p:cNvPicPr>
            <a:picLocks noChangeAspect="1"/>
          </p:cNvPicPr>
          <p:nvPr/>
        </p:nvPicPr>
        <p:blipFill>
          <a:blip r:embed="rId3"/>
          <a:stretch>
            <a:fillRect/>
          </a:stretch>
        </p:blipFill>
        <p:spPr>
          <a:xfrm>
            <a:off x="1263038" y="3236212"/>
            <a:ext cx="2011621" cy="1332077"/>
          </a:xfrm>
          <a:prstGeom prst="rect">
            <a:avLst/>
          </a:prstGeom>
        </p:spPr>
      </p:pic>
      <p:pic>
        <p:nvPicPr>
          <p:cNvPr id="9" name="Imagen 8" descr="Logotipo&#10;&#10;El contenido generado por IA puede ser incorrecto.">
            <a:extLst>
              <a:ext uri="{FF2B5EF4-FFF2-40B4-BE49-F238E27FC236}">
                <a16:creationId xmlns:a16="http://schemas.microsoft.com/office/drawing/2014/main" id="{EEED785C-6FC0-A440-0F51-47391F7F0C1F}"/>
              </a:ext>
            </a:extLst>
          </p:cNvPr>
          <p:cNvPicPr>
            <a:picLocks noChangeAspect="1"/>
          </p:cNvPicPr>
          <p:nvPr/>
        </p:nvPicPr>
        <p:blipFill>
          <a:blip r:embed="rId4"/>
          <a:stretch>
            <a:fillRect/>
          </a:stretch>
        </p:blipFill>
        <p:spPr>
          <a:xfrm>
            <a:off x="3277232" y="3244108"/>
            <a:ext cx="1984593" cy="1327659"/>
          </a:xfrm>
          <a:prstGeom prst="rect">
            <a:avLst/>
          </a:prstGeom>
        </p:spPr>
      </p:pic>
    </p:spTree>
    <p:extLst>
      <p:ext uri="{BB962C8B-B14F-4D97-AF65-F5344CB8AC3E}">
        <p14:creationId xmlns:p14="http://schemas.microsoft.com/office/powerpoint/2010/main" val="27420489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FF67CBC-1536-A090-A5B5-FE205F3AF4AD}"/>
              </a:ext>
            </a:extLst>
          </p:cNvPr>
          <p:cNvSpPr txBox="1">
            <a:spLocks/>
          </p:cNvSpPr>
          <p:nvPr/>
        </p:nvSpPr>
        <p:spPr>
          <a:xfrm>
            <a:off x="456236" y="639152"/>
            <a:ext cx="3621315" cy="67659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b="1">
                <a:latin typeface="Arial"/>
                <a:cs typeface="Arial"/>
              </a:rPr>
              <a:t>PROBLEMA</a:t>
            </a:r>
          </a:p>
        </p:txBody>
      </p:sp>
      <p:sp>
        <p:nvSpPr>
          <p:cNvPr id="3" name="CuadroTexto 2">
            <a:extLst>
              <a:ext uri="{FF2B5EF4-FFF2-40B4-BE49-F238E27FC236}">
                <a16:creationId xmlns:a16="http://schemas.microsoft.com/office/drawing/2014/main" id="{EF9C203C-8702-185A-A81A-1392C612CF72}"/>
              </a:ext>
            </a:extLst>
          </p:cNvPr>
          <p:cNvSpPr txBox="1">
            <a:spLocks/>
          </p:cNvSpPr>
          <p:nvPr/>
        </p:nvSpPr>
        <p:spPr>
          <a:xfrm>
            <a:off x="8694348" y="508463"/>
            <a:ext cx="1080000" cy="540000"/>
          </a:xfrm>
          <a:prstGeom prst="rect">
            <a:avLst/>
          </a:prstGeom>
          <a:noFill/>
          <a:ln>
            <a:solidFill>
              <a:schemeClr val="tx1"/>
            </a:solidFill>
          </a:ln>
        </p:spPr>
        <p:txBody>
          <a:bodyPr wrap="square" rtlCol="0" anchor="ctr" anchorCtr="0">
            <a:noAutofit/>
          </a:bodyPr>
          <a:lstStyle/>
          <a:p>
            <a:pPr algn="ctr"/>
            <a:r>
              <a:rPr lang="es-ES" sz="1600">
                <a:latin typeface="Work Sans Light" pitchFamily="2" charset="77"/>
              </a:rPr>
              <a:t>Logo Sistema</a:t>
            </a:r>
            <a:endParaRPr lang="es-CO" sz="1600">
              <a:latin typeface="Work Sans Light" pitchFamily="2" charset="77"/>
            </a:endParaRPr>
          </a:p>
        </p:txBody>
      </p:sp>
      <p:sp>
        <p:nvSpPr>
          <p:cNvPr id="4" name="CuadroTexto 3">
            <a:extLst>
              <a:ext uri="{FF2B5EF4-FFF2-40B4-BE49-F238E27FC236}">
                <a16:creationId xmlns:a16="http://schemas.microsoft.com/office/drawing/2014/main" id="{8F398273-E570-FD0C-5679-CE05DCAEEED3}"/>
              </a:ext>
            </a:extLst>
          </p:cNvPr>
          <p:cNvSpPr txBox="1">
            <a:spLocks/>
          </p:cNvSpPr>
          <p:nvPr/>
        </p:nvSpPr>
        <p:spPr>
          <a:xfrm>
            <a:off x="9775121" y="510142"/>
            <a:ext cx="1080000" cy="540000"/>
          </a:xfrm>
          <a:prstGeom prst="rect">
            <a:avLst/>
          </a:prstGeom>
          <a:noFill/>
          <a:ln>
            <a:solidFill>
              <a:schemeClr val="tx1"/>
            </a:solidFill>
          </a:ln>
        </p:spPr>
        <p:txBody>
          <a:bodyPr wrap="square" rtlCol="0" anchor="ctr" anchorCtr="0">
            <a:noAutofit/>
          </a:bodyPr>
          <a:lstStyle/>
          <a:p>
            <a:pPr algn="ctr"/>
            <a:r>
              <a:rPr lang="es-ES" sz="1600">
                <a:latin typeface="Work Sans Light" pitchFamily="2" charset="77"/>
              </a:rPr>
              <a:t>Logo Empresa</a:t>
            </a:r>
          </a:p>
        </p:txBody>
      </p:sp>
      <p:sp>
        <p:nvSpPr>
          <p:cNvPr id="6" name="CuadroTexto 5">
            <a:extLst>
              <a:ext uri="{FF2B5EF4-FFF2-40B4-BE49-F238E27FC236}">
                <a16:creationId xmlns:a16="http://schemas.microsoft.com/office/drawing/2014/main" id="{AF636D40-6663-725B-8E0D-34BDB07692AF}"/>
              </a:ext>
            </a:extLst>
          </p:cNvPr>
          <p:cNvSpPr txBox="1"/>
          <p:nvPr/>
        </p:nvSpPr>
        <p:spPr>
          <a:xfrm>
            <a:off x="471396" y="1714988"/>
            <a:ext cx="7653270" cy="3662541"/>
          </a:xfrm>
          <a:prstGeom prst="rect">
            <a:avLst/>
          </a:prstGeom>
          <a:noFill/>
        </p:spPr>
        <p:txBody>
          <a:bodyPr wrap="square" lIns="91440" tIns="45720" rIns="91440" bIns="45720" rtlCol="0" anchor="t">
            <a:spAutoFit/>
          </a:bodyPr>
          <a:lstStyle/>
          <a:p>
            <a:r>
              <a:rPr lang="es-ES" sz="2400" dirty="0">
                <a:latin typeface="Arial"/>
                <a:ea typeface="Calibri"/>
                <a:cs typeface="Arial"/>
              </a:rPr>
              <a:t>En la localidad de Bosa se halla la necesidad de adecuar un software para la empresa de Panela Buenos Aires ya que de acuerdo con una recolección de información sobre la misma se hallan varios factores en los cuales intervenir y proponer la idea de un software para automatizar sus procesos internos y reducir tiempo en procesos tales como: Organización de inventario , ventas, salidas de producto, entradas de producto, y seguimiento del producto. </a:t>
            </a:r>
            <a:endParaRPr lang="es-ES" dirty="0"/>
          </a:p>
          <a:p>
            <a:endParaRPr lang="es-CO" sz="1600" dirty="0">
              <a:latin typeface="Work Sans Light"/>
              <a:cs typeface="Arial"/>
            </a:endParaRPr>
          </a:p>
        </p:txBody>
      </p:sp>
      <p:pic>
        <p:nvPicPr>
          <p:cNvPr id="5" name="Imagen 4" descr="Interfaz de usuario gráfica, Aplicación, Teams&#10;&#10;El contenido generado por IA puede ser incorrecto.">
            <a:extLst>
              <a:ext uri="{FF2B5EF4-FFF2-40B4-BE49-F238E27FC236}">
                <a16:creationId xmlns:a16="http://schemas.microsoft.com/office/drawing/2014/main" id="{35A534C8-490A-B290-D093-278209E99EBA}"/>
              </a:ext>
            </a:extLst>
          </p:cNvPr>
          <p:cNvPicPr>
            <a:picLocks noChangeAspect="1"/>
          </p:cNvPicPr>
          <p:nvPr/>
        </p:nvPicPr>
        <p:blipFill>
          <a:blip r:embed="rId3"/>
          <a:stretch>
            <a:fillRect/>
          </a:stretch>
        </p:blipFill>
        <p:spPr>
          <a:xfrm>
            <a:off x="8428113" y="449792"/>
            <a:ext cx="1238250" cy="1047750"/>
          </a:xfrm>
          <a:prstGeom prst="rect">
            <a:avLst/>
          </a:prstGeom>
        </p:spPr>
      </p:pic>
      <p:pic>
        <p:nvPicPr>
          <p:cNvPr id="8" name="Imagen 7" descr="Logotipo&#10;&#10;El contenido generado por IA puede ser incorrecto.">
            <a:extLst>
              <a:ext uri="{FF2B5EF4-FFF2-40B4-BE49-F238E27FC236}">
                <a16:creationId xmlns:a16="http://schemas.microsoft.com/office/drawing/2014/main" id="{03FF575E-4DD3-0475-CE73-6DB37B675BCA}"/>
              </a:ext>
            </a:extLst>
          </p:cNvPr>
          <p:cNvPicPr>
            <a:picLocks noChangeAspect="1"/>
          </p:cNvPicPr>
          <p:nvPr/>
        </p:nvPicPr>
        <p:blipFill>
          <a:blip r:embed="rId4"/>
          <a:stretch>
            <a:fillRect/>
          </a:stretch>
        </p:blipFill>
        <p:spPr>
          <a:xfrm>
            <a:off x="9668933" y="446315"/>
            <a:ext cx="1199849" cy="1054706"/>
          </a:xfrm>
          <a:prstGeom prst="rect">
            <a:avLst/>
          </a:prstGeom>
        </p:spPr>
      </p:pic>
      <p:pic>
        <p:nvPicPr>
          <p:cNvPr id="7" name="Imagen 6" descr="Qué retos plantea la automatización de procesos en las empresas?">
            <a:extLst>
              <a:ext uri="{FF2B5EF4-FFF2-40B4-BE49-F238E27FC236}">
                <a16:creationId xmlns:a16="http://schemas.microsoft.com/office/drawing/2014/main" id="{4286B31E-B273-84E7-79CB-6B65171AD0CD}"/>
              </a:ext>
            </a:extLst>
          </p:cNvPr>
          <p:cNvPicPr>
            <a:picLocks noChangeAspect="1"/>
          </p:cNvPicPr>
          <p:nvPr/>
        </p:nvPicPr>
        <p:blipFill>
          <a:blip r:embed="rId5"/>
          <a:stretch>
            <a:fillRect/>
          </a:stretch>
        </p:blipFill>
        <p:spPr>
          <a:xfrm>
            <a:off x="8136957" y="2427618"/>
            <a:ext cx="3279295" cy="2017143"/>
          </a:xfrm>
          <a:prstGeom prst="rect">
            <a:avLst/>
          </a:prstGeom>
        </p:spPr>
      </p:pic>
    </p:spTree>
    <p:extLst>
      <p:ext uri="{BB962C8B-B14F-4D97-AF65-F5344CB8AC3E}">
        <p14:creationId xmlns:p14="http://schemas.microsoft.com/office/powerpoint/2010/main" val="15004030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EE37A3CD-1BAC-6175-4755-9AC66A46B6FF}"/>
              </a:ext>
            </a:extLst>
          </p:cNvPr>
          <p:cNvSpPr txBox="1">
            <a:spLocks/>
          </p:cNvSpPr>
          <p:nvPr/>
        </p:nvSpPr>
        <p:spPr>
          <a:xfrm>
            <a:off x="760994" y="446315"/>
            <a:ext cx="4645461" cy="67659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CO" sz="3200" b="1" dirty="0">
                <a:latin typeface="Arial"/>
                <a:cs typeface="Arial"/>
              </a:rPr>
              <a:t>OBJETIVO GENERAL</a:t>
            </a:r>
          </a:p>
        </p:txBody>
      </p:sp>
      <p:sp>
        <p:nvSpPr>
          <p:cNvPr id="7" name="CuadroTexto 6">
            <a:extLst>
              <a:ext uri="{FF2B5EF4-FFF2-40B4-BE49-F238E27FC236}">
                <a16:creationId xmlns:a16="http://schemas.microsoft.com/office/drawing/2014/main" id="{FBAA83CA-F5E1-3945-40AB-1CB1B233A0BF}"/>
              </a:ext>
            </a:extLst>
          </p:cNvPr>
          <p:cNvSpPr txBox="1"/>
          <p:nvPr/>
        </p:nvSpPr>
        <p:spPr>
          <a:xfrm>
            <a:off x="760994" y="1320431"/>
            <a:ext cx="5209195" cy="1569660"/>
          </a:xfrm>
          <a:prstGeom prst="rect">
            <a:avLst/>
          </a:prstGeom>
          <a:noFill/>
        </p:spPr>
        <p:txBody>
          <a:bodyPr wrap="square" lIns="91440" tIns="45720" rIns="91440" bIns="45720" rtlCol="0" anchor="t">
            <a:spAutoFit/>
          </a:bodyPr>
          <a:lstStyle/>
          <a:p>
            <a:pPr marL="285750" indent="-285750">
              <a:buFont typeface="Arial"/>
              <a:buChar char="•"/>
            </a:pPr>
            <a:r>
              <a:rPr lang="es-MX" sz="1600" dirty="0">
                <a:latin typeface="Arial"/>
                <a:ea typeface="+mn-lt"/>
                <a:cs typeface="Arial"/>
              </a:rPr>
              <a:t>Desarrollar un sistema software para la empresa Panela Buenos Aires para agilizar y optimizar los procesos de ventas, almacenamiento de productos, entrada y salida de productos, PQR  de los clientes, etc.</a:t>
            </a:r>
            <a:endParaRPr lang="es-ES" sz="1600" dirty="0">
              <a:latin typeface="Arial"/>
              <a:cs typeface="Arial"/>
            </a:endParaRPr>
          </a:p>
          <a:p>
            <a:endParaRPr lang="es-MX" sz="1600" dirty="0">
              <a:latin typeface="Work Sans Light" pitchFamily="2" charset="77"/>
            </a:endParaRPr>
          </a:p>
        </p:txBody>
      </p:sp>
      <p:sp>
        <p:nvSpPr>
          <p:cNvPr id="8" name="Título 1">
            <a:extLst>
              <a:ext uri="{FF2B5EF4-FFF2-40B4-BE49-F238E27FC236}">
                <a16:creationId xmlns:a16="http://schemas.microsoft.com/office/drawing/2014/main" id="{802FD35A-EA47-F375-CD6A-B61F8B61B3AD}"/>
              </a:ext>
            </a:extLst>
          </p:cNvPr>
          <p:cNvSpPr txBox="1">
            <a:spLocks/>
          </p:cNvSpPr>
          <p:nvPr/>
        </p:nvSpPr>
        <p:spPr>
          <a:xfrm>
            <a:off x="760994" y="3037585"/>
            <a:ext cx="5504222" cy="749169"/>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3200" b="1" dirty="0">
                <a:latin typeface="Arial"/>
                <a:cs typeface="Arial"/>
              </a:rPr>
              <a:t>OBJETIVOS ESPECÍFICOS</a:t>
            </a:r>
          </a:p>
        </p:txBody>
      </p:sp>
      <p:sp>
        <p:nvSpPr>
          <p:cNvPr id="9" name="CuadroTexto 8">
            <a:extLst>
              <a:ext uri="{FF2B5EF4-FFF2-40B4-BE49-F238E27FC236}">
                <a16:creationId xmlns:a16="http://schemas.microsoft.com/office/drawing/2014/main" id="{FC78F7BD-2A34-855F-15C3-306C2603A128}"/>
              </a:ext>
            </a:extLst>
          </p:cNvPr>
          <p:cNvSpPr txBox="1"/>
          <p:nvPr/>
        </p:nvSpPr>
        <p:spPr>
          <a:xfrm>
            <a:off x="760994" y="3934248"/>
            <a:ext cx="7849324" cy="1323439"/>
          </a:xfrm>
          <a:prstGeom prst="rect">
            <a:avLst/>
          </a:prstGeom>
          <a:noFill/>
        </p:spPr>
        <p:txBody>
          <a:bodyPr wrap="square" lIns="91440" tIns="45720" rIns="91440" bIns="45720" rtlCol="0" anchor="t">
            <a:spAutoFit/>
          </a:bodyPr>
          <a:lstStyle/>
          <a:p>
            <a:r>
              <a:rPr lang="es-MX" sz="1600" b="1" dirty="0">
                <a:latin typeface="Arial"/>
                <a:ea typeface="+mn-lt"/>
                <a:cs typeface="Arial"/>
              </a:rPr>
              <a:t>1.  Desarrollar </a:t>
            </a:r>
            <a:r>
              <a:rPr lang="es-MX" sz="1600" dirty="0">
                <a:latin typeface="Arial"/>
                <a:ea typeface="+mn-lt"/>
                <a:cs typeface="Arial"/>
              </a:rPr>
              <a:t>el modulo de USUARIOS del sistema SIGAP. </a:t>
            </a:r>
            <a:endParaRPr lang="es-MX" sz="1600" dirty="0">
              <a:latin typeface="Arial"/>
              <a:cs typeface="Arial"/>
            </a:endParaRPr>
          </a:p>
          <a:p>
            <a:r>
              <a:rPr lang="es-MX" sz="1600" b="1" dirty="0">
                <a:latin typeface="Arial"/>
                <a:ea typeface="+mn-lt"/>
                <a:cs typeface="Arial"/>
              </a:rPr>
              <a:t>2.  Desarrollar</a:t>
            </a:r>
            <a:r>
              <a:rPr lang="es-MX" sz="1600" dirty="0">
                <a:latin typeface="Arial"/>
                <a:ea typeface="+mn-lt"/>
                <a:cs typeface="Arial"/>
              </a:rPr>
              <a:t> el modulo de PRODUCTOS del sistema SIGAP.</a:t>
            </a:r>
          </a:p>
          <a:p>
            <a:r>
              <a:rPr lang="es-MX" sz="1600" b="1" dirty="0">
                <a:latin typeface="Arial"/>
                <a:ea typeface="+mn-lt"/>
                <a:cs typeface="Arial"/>
              </a:rPr>
              <a:t>3.  Desarrollar </a:t>
            </a:r>
            <a:r>
              <a:rPr lang="es-MX" sz="1600" dirty="0">
                <a:latin typeface="Arial"/>
                <a:ea typeface="+mn-lt"/>
                <a:cs typeface="Arial"/>
              </a:rPr>
              <a:t>el modulo de VENTAS del sistema SIGAP. </a:t>
            </a:r>
            <a:endParaRPr lang="es-MX" sz="1600" dirty="0">
              <a:latin typeface="Arial"/>
              <a:cs typeface="Arial"/>
            </a:endParaRPr>
          </a:p>
          <a:p>
            <a:r>
              <a:rPr lang="es-MX" sz="1600" b="1" dirty="0">
                <a:latin typeface="Arial"/>
                <a:ea typeface="+mn-lt"/>
                <a:cs typeface="Arial"/>
              </a:rPr>
              <a:t>4. </a:t>
            </a:r>
            <a:r>
              <a:rPr lang="es-MX" sz="1600" dirty="0">
                <a:latin typeface="Arial"/>
                <a:ea typeface="+mn-lt"/>
                <a:cs typeface="Arial"/>
              </a:rPr>
              <a:t> </a:t>
            </a:r>
            <a:r>
              <a:rPr lang="es-MX" sz="1600" b="1" dirty="0">
                <a:latin typeface="Arial"/>
                <a:ea typeface="+mn-lt"/>
                <a:cs typeface="Arial"/>
              </a:rPr>
              <a:t>Desarrollar</a:t>
            </a:r>
            <a:r>
              <a:rPr lang="es-MX" sz="1600" dirty="0">
                <a:latin typeface="Arial"/>
                <a:ea typeface="+mn-lt"/>
                <a:cs typeface="Arial"/>
              </a:rPr>
              <a:t> el modulo de INVENTARIO del sistema SIGAP.</a:t>
            </a:r>
          </a:p>
          <a:p>
            <a:r>
              <a:rPr lang="es-MX" sz="1600" b="1" dirty="0">
                <a:latin typeface="Arial"/>
                <a:ea typeface="+mn-lt"/>
                <a:cs typeface="Arial"/>
              </a:rPr>
              <a:t>5.  Desarrollar </a:t>
            </a:r>
            <a:r>
              <a:rPr lang="es-MX" sz="1600" dirty="0">
                <a:latin typeface="Arial"/>
                <a:ea typeface="+mn-lt"/>
                <a:cs typeface="Arial"/>
              </a:rPr>
              <a:t>el modulo PQR del sistema SIGAP.</a:t>
            </a:r>
            <a:endParaRPr lang="es-MX" sz="1600" dirty="0">
              <a:latin typeface="Arial"/>
              <a:cs typeface="Arial"/>
            </a:endParaRPr>
          </a:p>
        </p:txBody>
      </p:sp>
      <p:pic>
        <p:nvPicPr>
          <p:cNvPr id="10" name="Imagen 9" descr="Interfaz de usuario gráfica, Aplicación, Teams&#10;&#10;El contenido generado por IA puede ser incorrecto.">
            <a:extLst>
              <a:ext uri="{FF2B5EF4-FFF2-40B4-BE49-F238E27FC236}">
                <a16:creationId xmlns:a16="http://schemas.microsoft.com/office/drawing/2014/main" id="{92BC2FF2-C39C-6065-B76B-BF800E86C30A}"/>
              </a:ext>
            </a:extLst>
          </p:cNvPr>
          <p:cNvPicPr>
            <a:picLocks noChangeAspect="1"/>
          </p:cNvPicPr>
          <p:nvPr/>
        </p:nvPicPr>
        <p:blipFill>
          <a:blip r:embed="rId2"/>
          <a:stretch>
            <a:fillRect/>
          </a:stretch>
        </p:blipFill>
        <p:spPr>
          <a:xfrm>
            <a:off x="8428113" y="449792"/>
            <a:ext cx="1238250" cy="1047750"/>
          </a:xfrm>
          <a:prstGeom prst="rect">
            <a:avLst/>
          </a:prstGeom>
        </p:spPr>
      </p:pic>
      <p:pic>
        <p:nvPicPr>
          <p:cNvPr id="12" name="Imagen 11" descr="Logotipo&#10;&#10;El contenido generado por IA puede ser incorrecto.">
            <a:extLst>
              <a:ext uri="{FF2B5EF4-FFF2-40B4-BE49-F238E27FC236}">
                <a16:creationId xmlns:a16="http://schemas.microsoft.com/office/drawing/2014/main" id="{AD487867-26D4-C707-D072-CDB8E66D14AC}"/>
              </a:ext>
            </a:extLst>
          </p:cNvPr>
          <p:cNvPicPr>
            <a:picLocks noChangeAspect="1"/>
          </p:cNvPicPr>
          <p:nvPr/>
        </p:nvPicPr>
        <p:blipFill>
          <a:blip r:embed="rId3"/>
          <a:stretch>
            <a:fillRect/>
          </a:stretch>
        </p:blipFill>
        <p:spPr>
          <a:xfrm>
            <a:off x="9668933" y="446315"/>
            <a:ext cx="1199849" cy="1054706"/>
          </a:xfrm>
          <a:prstGeom prst="rect">
            <a:avLst/>
          </a:prstGeom>
        </p:spPr>
      </p:pic>
      <p:pic>
        <p:nvPicPr>
          <p:cNvPr id="3" name="Imagen 2" descr="Todo lo que necesitas saber sobre el desarrollo web rápido - Comunicare">
            <a:extLst>
              <a:ext uri="{FF2B5EF4-FFF2-40B4-BE49-F238E27FC236}">
                <a16:creationId xmlns:a16="http://schemas.microsoft.com/office/drawing/2014/main" id="{E32A20DC-8472-405E-B705-61609DB546A1}"/>
              </a:ext>
            </a:extLst>
          </p:cNvPr>
          <p:cNvPicPr>
            <a:picLocks noChangeAspect="1"/>
          </p:cNvPicPr>
          <p:nvPr/>
        </p:nvPicPr>
        <p:blipFill>
          <a:blip r:embed="rId4"/>
          <a:stretch>
            <a:fillRect/>
          </a:stretch>
        </p:blipFill>
        <p:spPr>
          <a:xfrm>
            <a:off x="7260146" y="2268325"/>
            <a:ext cx="4627563" cy="3331845"/>
          </a:xfrm>
          <a:prstGeom prst="rect">
            <a:avLst/>
          </a:prstGeom>
        </p:spPr>
      </p:pic>
    </p:spTree>
    <p:extLst>
      <p:ext uri="{BB962C8B-B14F-4D97-AF65-F5344CB8AC3E}">
        <p14:creationId xmlns:p14="http://schemas.microsoft.com/office/powerpoint/2010/main" val="5912055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FF67CBC-1536-A090-A5B5-FE205F3AF4AD}"/>
              </a:ext>
            </a:extLst>
          </p:cNvPr>
          <p:cNvSpPr txBox="1">
            <a:spLocks/>
          </p:cNvSpPr>
          <p:nvPr/>
        </p:nvSpPr>
        <p:spPr>
          <a:xfrm>
            <a:off x="371569" y="748009"/>
            <a:ext cx="4189791" cy="616122"/>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b="1">
                <a:solidFill>
                  <a:schemeClr val="tx1">
                    <a:lumMod val="95000"/>
                    <a:lumOff val="5000"/>
                  </a:schemeClr>
                </a:solidFill>
                <a:latin typeface="Arial"/>
                <a:cs typeface="Arial"/>
              </a:rPr>
              <a:t>JUSTIFICACIÓN</a:t>
            </a:r>
          </a:p>
        </p:txBody>
      </p:sp>
      <p:sp>
        <p:nvSpPr>
          <p:cNvPr id="3" name="CuadroTexto 2">
            <a:extLst>
              <a:ext uri="{FF2B5EF4-FFF2-40B4-BE49-F238E27FC236}">
                <a16:creationId xmlns:a16="http://schemas.microsoft.com/office/drawing/2014/main" id="{EF9C203C-8702-185A-A81A-1392C612CF72}"/>
              </a:ext>
            </a:extLst>
          </p:cNvPr>
          <p:cNvSpPr txBox="1">
            <a:spLocks/>
          </p:cNvSpPr>
          <p:nvPr/>
        </p:nvSpPr>
        <p:spPr>
          <a:xfrm>
            <a:off x="8694348" y="508463"/>
            <a:ext cx="1080000" cy="540000"/>
          </a:xfrm>
          <a:prstGeom prst="rect">
            <a:avLst/>
          </a:prstGeom>
          <a:noFill/>
          <a:ln>
            <a:solidFill>
              <a:schemeClr val="tx1"/>
            </a:solidFill>
          </a:ln>
        </p:spPr>
        <p:txBody>
          <a:bodyPr wrap="square" rtlCol="0" anchor="ctr" anchorCtr="0">
            <a:noAutofit/>
          </a:bodyPr>
          <a:lstStyle/>
          <a:p>
            <a:pPr algn="ctr"/>
            <a:r>
              <a:rPr lang="es-ES" sz="1600">
                <a:latin typeface="Work Sans Light" pitchFamily="2" charset="77"/>
              </a:rPr>
              <a:t>Logo Sistema</a:t>
            </a:r>
            <a:endParaRPr lang="es-CO" sz="1600">
              <a:latin typeface="Work Sans Light" pitchFamily="2" charset="77"/>
            </a:endParaRPr>
          </a:p>
        </p:txBody>
      </p:sp>
      <p:sp>
        <p:nvSpPr>
          <p:cNvPr id="4" name="CuadroTexto 3">
            <a:extLst>
              <a:ext uri="{FF2B5EF4-FFF2-40B4-BE49-F238E27FC236}">
                <a16:creationId xmlns:a16="http://schemas.microsoft.com/office/drawing/2014/main" id="{8F398273-E570-FD0C-5679-CE05DCAEEED3}"/>
              </a:ext>
            </a:extLst>
          </p:cNvPr>
          <p:cNvSpPr txBox="1">
            <a:spLocks/>
          </p:cNvSpPr>
          <p:nvPr/>
        </p:nvSpPr>
        <p:spPr>
          <a:xfrm>
            <a:off x="9775121" y="510142"/>
            <a:ext cx="1080000" cy="540000"/>
          </a:xfrm>
          <a:prstGeom prst="rect">
            <a:avLst/>
          </a:prstGeom>
          <a:noFill/>
          <a:ln>
            <a:solidFill>
              <a:schemeClr val="tx1"/>
            </a:solidFill>
          </a:ln>
        </p:spPr>
        <p:txBody>
          <a:bodyPr wrap="square" rtlCol="0" anchor="ctr" anchorCtr="0">
            <a:noAutofit/>
          </a:bodyPr>
          <a:lstStyle/>
          <a:p>
            <a:pPr algn="ctr"/>
            <a:r>
              <a:rPr lang="es-ES" sz="1600">
                <a:latin typeface="Work Sans Light" pitchFamily="2" charset="77"/>
              </a:rPr>
              <a:t>Logo Empresa</a:t>
            </a:r>
          </a:p>
        </p:txBody>
      </p:sp>
      <p:sp>
        <p:nvSpPr>
          <p:cNvPr id="6" name="CuadroTexto 5">
            <a:extLst>
              <a:ext uri="{FF2B5EF4-FFF2-40B4-BE49-F238E27FC236}">
                <a16:creationId xmlns:a16="http://schemas.microsoft.com/office/drawing/2014/main" id="{AF636D40-6663-725B-8E0D-34BDB07692AF}"/>
              </a:ext>
            </a:extLst>
          </p:cNvPr>
          <p:cNvSpPr txBox="1"/>
          <p:nvPr/>
        </p:nvSpPr>
        <p:spPr>
          <a:xfrm>
            <a:off x="372354" y="2189670"/>
            <a:ext cx="6055785" cy="3724096"/>
          </a:xfrm>
          <a:prstGeom prst="rect">
            <a:avLst/>
          </a:prstGeom>
          <a:noFill/>
        </p:spPr>
        <p:txBody>
          <a:bodyPr wrap="square" lIns="91440" tIns="45720" rIns="91440" bIns="45720" rtlCol="0" anchor="t">
            <a:spAutoFit/>
          </a:bodyPr>
          <a:lstStyle/>
          <a:p>
            <a:r>
              <a:rPr lang="es-CO" sz="2000" dirty="0">
                <a:ea typeface="+mn-lt"/>
                <a:cs typeface="+mn-lt"/>
              </a:rPr>
              <a:t> Se propone el desarrollo de un Sistema de Información Web denominado SIGAP (Sistema de Gestión y Administración para Panela Buenos Aires ) que sirva como herramienta software de apoyo al seguimiento del/los procesos  de ventas, entrada y salida de productos, seguimiento de productos inventario , gestión y comunicación con clientes y proveedores  de la Empresa Panela Buenos Aires .</a:t>
            </a:r>
            <a:endParaRPr lang="es-CO" dirty="0"/>
          </a:p>
          <a:p>
            <a:endParaRPr lang="es-CO" sz="2000" dirty="0">
              <a:latin typeface="Calibri"/>
              <a:ea typeface="Calibri"/>
              <a:cs typeface="Calibri"/>
            </a:endParaRPr>
          </a:p>
          <a:p>
            <a:endParaRPr lang="es-CO" sz="2000" dirty="0">
              <a:latin typeface="Calibri"/>
              <a:ea typeface="Calibri"/>
              <a:cs typeface="Calibri"/>
            </a:endParaRPr>
          </a:p>
          <a:p>
            <a:endParaRPr lang="es-CO" sz="2000" dirty="0">
              <a:latin typeface="Calibri"/>
              <a:ea typeface="Calibri"/>
              <a:cs typeface="Calibri"/>
            </a:endParaRPr>
          </a:p>
          <a:p>
            <a:endParaRPr lang="es-CO" sz="1600" dirty="0">
              <a:latin typeface="Work Sans Light" pitchFamily="2" charset="77"/>
            </a:endParaRPr>
          </a:p>
        </p:txBody>
      </p:sp>
      <p:pic>
        <p:nvPicPr>
          <p:cNvPr id="7" name="Imagen 6" descr="Interfaz de usuario gráfica, Aplicación, Teams&#10;&#10;El contenido generado por IA puede ser incorrecto.">
            <a:extLst>
              <a:ext uri="{FF2B5EF4-FFF2-40B4-BE49-F238E27FC236}">
                <a16:creationId xmlns:a16="http://schemas.microsoft.com/office/drawing/2014/main" id="{9893EF7C-2D1E-616F-499C-6F5FD1893804}"/>
              </a:ext>
            </a:extLst>
          </p:cNvPr>
          <p:cNvPicPr>
            <a:picLocks noChangeAspect="1"/>
          </p:cNvPicPr>
          <p:nvPr/>
        </p:nvPicPr>
        <p:blipFill>
          <a:blip r:embed="rId2"/>
          <a:stretch>
            <a:fillRect/>
          </a:stretch>
        </p:blipFill>
        <p:spPr>
          <a:xfrm>
            <a:off x="8428113" y="449792"/>
            <a:ext cx="1238250" cy="1047750"/>
          </a:xfrm>
          <a:prstGeom prst="rect">
            <a:avLst/>
          </a:prstGeom>
        </p:spPr>
      </p:pic>
      <p:pic>
        <p:nvPicPr>
          <p:cNvPr id="9" name="Imagen 8" descr="Logotipo&#10;&#10;El contenido generado por IA puede ser incorrecto.">
            <a:extLst>
              <a:ext uri="{FF2B5EF4-FFF2-40B4-BE49-F238E27FC236}">
                <a16:creationId xmlns:a16="http://schemas.microsoft.com/office/drawing/2014/main" id="{831090FB-B469-3BA4-1CD6-9DCE9FCFA7F9}"/>
              </a:ext>
            </a:extLst>
          </p:cNvPr>
          <p:cNvPicPr>
            <a:picLocks noChangeAspect="1"/>
          </p:cNvPicPr>
          <p:nvPr/>
        </p:nvPicPr>
        <p:blipFill>
          <a:blip r:embed="rId3"/>
          <a:stretch>
            <a:fillRect/>
          </a:stretch>
        </p:blipFill>
        <p:spPr>
          <a:xfrm>
            <a:off x="9668933" y="446315"/>
            <a:ext cx="1199849" cy="1054706"/>
          </a:xfrm>
          <a:prstGeom prst="rect">
            <a:avLst/>
          </a:prstGeom>
        </p:spPr>
      </p:pic>
      <p:pic>
        <p:nvPicPr>
          <p:cNvPr id="8" name="Imagen 7" descr="Desarrollo de Sistema Web - Perú">
            <a:extLst>
              <a:ext uri="{FF2B5EF4-FFF2-40B4-BE49-F238E27FC236}">
                <a16:creationId xmlns:a16="http://schemas.microsoft.com/office/drawing/2014/main" id="{66C0D7EC-2A5B-092C-A6F1-C40593F9D7E5}"/>
              </a:ext>
            </a:extLst>
          </p:cNvPr>
          <p:cNvPicPr>
            <a:picLocks noChangeAspect="1"/>
          </p:cNvPicPr>
          <p:nvPr/>
        </p:nvPicPr>
        <p:blipFill>
          <a:blip r:embed="rId4"/>
          <a:stretch>
            <a:fillRect/>
          </a:stretch>
        </p:blipFill>
        <p:spPr>
          <a:xfrm>
            <a:off x="7045085" y="2518284"/>
            <a:ext cx="3809640" cy="2022714"/>
          </a:xfrm>
          <a:prstGeom prst="rect">
            <a:avLst/>
          </a:prstGeom>
        </p:spPr>
      </p:pic>
    </p:spTree>
    <p:extLst>
      <p:ext uri="{BB962C8B-B14F-4D97-AF65-F5344CB8AC3E}">
        <p14:creationId xmlns:p14="http://schemas.microsoft.com/office/powerpoint/2010/main" val="35155936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FF67CBC-1536-A090-A5B5-FE205F3AF4AD}"/>
              </a:ext>
            </a:extLst>
          </p:cNvPr>
          <p:cNvSpPr txBox="1">
            <a:spLocks/>
          </p:cNvSpPr>
          <p:nvPr/>
        </p:nvSpPr>
        <p:spPr>
          <a:xfrm>
            <a:off x="371570" y="784293"/>
            <a:ext cx="4540553" cy="700789"/>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b="1">
                <a:solidFill>
                  <a:schemeClr val="tx1">
                    <a:lumMod val="95000"/>
                    <a:lumOff val="5000"/>
                  </a:schemeClr>
                </a:solidFill>
                <a:latin typeface="Arial"/>
                <a:cs typeface="Arial"/>
              </a:rPr>
              <a:t>ALCANCE</a:t>
            </a:r>
          </a:p>
        </p:txBody>
      </p:sp>
      <p:sp>
        <p:nvSpPr>
          <p:cNvPr id="3" name="CuadroTexto 2">
            <a:extLst>
              <a:ext uri="{FF2B5EF4-FFF2-40B4-BE49-F238E27FC236}">
                <a16:creationId xmlns:a16="http://schemas.microsoft.com/office/drawing/2014/main" id="{EF9C203C-8702-185A-A81A-1392C612CF72}"/>
              </a:ext>
            </a:extLst>
          </p:cNvPr>
          <p:cNvSpPr txBox="1">
            <a:spLocks/>
          </p:cNvSpPr>
          <p:nvPr/>
        </p:nvSpPr>
        <p:spPr>
          <a:xfrm>
            <a:off x="8694348" y="508463"/>
            <a:ext cx="1080000" cy="540000"/>
          </a:xfrm>
          <a:prstGeom prst="rect">
            <a:avLst/>
          </a:prstGeom>
          <a:noFill/>
          <a:ln>
            <a:solidFill>
              <a:schemeClr val="tx1"/>
            </a:solidFill>
          </a:ln>
        </p:spPr>
        <p:txBody>
          <a:bodyPr wrap="square" rtlCol="0" anchor="ctr" anchorCtr="0">
            <a:noAutofit/>
          </a:bodyPr>
          <a:lstStyle/>
          <a:p>
            <a:pPr algn="ctr"/>
            <a:r>
              <a:rPr lang="es-ES" sz="1600">
                <a:latin typeface="Work Sans Light" pitchFamily="2" charset="77"/>
              </a:rPr>
              <a:t>Logo Sistema</a:t>
            </a:r>
            <a:endParaRPr lang="es-CO" sz="1600">
              <a:latin typeface="Work Sans Light" pitchFamily="2" charset="77"/>
            </a:endParaRPr>
          </a:p>
        </p:txBody>
      </p:sp>
      <p:sp>
        <p:nvSpPr>
          <p:cNvPr id="4" name="CuadroTexto 3">
            <a:extLst>
              <a:ext uri="{FF2B5EF4-FFF2-40B4-BE49-F238E27FC236}">
                <a16:creationId xmlns:a16="http://schemas.microsoft.com/office/drawing/2014/main" id="{8F398273-E570-FD0C-5679-CE05DCAEEED3}"/>
              </a:ext>
            </a:extLst>
          </p:cNvPr>
          <p:cNvSpPr txBox="1">
            <a:spLocks/>
          </p:cNvSpPr>
          <p:nvPr/>
        </p:nvSpPr>
        <p:spPr>
          <a:xfrm>
            <a:off x="9775121" y="510142"/>
            <a:ext cx="1080000" cy="540000"/>
          </a:xfrm>
          <a:prstGeom prst="rect">
            <a:avLst/>
          </a:prstGeom>
          <a:noFill/>
          <a:ln>
            <a:solidFill>
              <a:schemeClr val="tx1"/>
            </a:solidFill>
          </a:ln>
        </p:spPr>
        <p:txBody>
          <a:bodyPr wrap="square" rtlCol="0" anchor="ctr" anchorCtr="0">
            <a:noAutofit/>
          </a:bodyPr>
          <a:lstStyle/>
          <a:p>
            <a:pPr algn="ctr"/>
            <a:r>
              <a:rPr lang="es-ES" sz="1600">
                <a:latin typeface="Work Sans Light" pitchFamily="2" charset="77"/>
              </a:rPr>
              <a:t>Logo Empresa</a:t>
            </a:r>
          </a:p>
        </p:txBody>
      </p:sp>
      <p:sp>
        <p:nvSpPr>
          <p:cNvPr id="6" name="CuadroTexto 5">
            <a:extLst>
              <a:ext uri="{FF2B5EF4-FFF2-40B4-BE49-F238E27FC236}">
                <a16:creationId xmlns:a16="http://schemas.microsoft.com/office/drawing/2014/main" id="{AF636D40-6663-725B-8E0D-34BDB07692AF}"/>
              </a:ext>
            </a:extLst>
          </p:cNvPr>
          <p:cNvSpPr txBox="1"/>
          <p:nvPr/>
        </p:nvSpPr>
        <p:spPr>
          <a:xfrm>
            <a:off x="760541" y="2147907"/>
            <a:ext cx="10685295" cy="4832092"/>
          </a:xfrm>
          <a:prstGeom prst="rect">
            <a:avLst/>
          </a:prstGeom>
          <a:noFill/>
        </p:spPr>
        <p:txBody>
          <a:bodyPr wrap="square" lIns="91440" tIns="45720" rIns="91440" bIns="45720" rtlCol="0" anchor="t">
            <a:spAutoFit/>
          </a:bodyPr>
          <a:lstStyle/>
          <a:p>
            <a:r>
              <a:rPr lang="es-CO" sz="2000" dirty="0">
                <a:latin typeface="Arial"/>
                <a:cs typeface="Arial"/>
              </a:rPr>
              <a:t> - </a:t>
            </a:r>
            <a:r>
              <a:rPr lang="es-CO" sz="2000">
                <a:latin typeface="Arial"/>
                <a:cs typeface="Arial"/>
              </a:rPr>
              <a:t>SIGAP:</a:t>
            </a:r>
            <a:r>
              <a:rPr lang="es-CO" sz="2000" dirty="0">
                <a:latin typeface="Arial"/>
                <a:cs typeface="Arial"/>
              </a:rPr>
              <a:t> (Sistema de Gestión y Administración para Panela Buenos Aires), será un sistema de funcionamiento web que permitirá agilizar y optimizar algunos procesos de la empresa Panela Buenos Aires, como por ejemplo ventas, inventario, mejor gestión de clientes y empleados.</a:t>
            </a:r>
            <a:br>
              <a:rPr lang="en-US" sz="2000" dirty="0"/>
            </a:br>
            <a:endParaRPr lang="en-US" sz="2000">
              <a:latin typeface="Arial"/>
              <a:cs typeface="Arial"/>
            </a:endParaRPr>
          </a:p>
          <a:p>
            <a:r>
              <a:rPr lang="es-CO" sz="2000">
                <a:latin typeface="Arial"/>
                <a:cs typeface="Arial"/>
              </a:rPr>
              <a:t>    -  Permitirá al administrador tener más control sobre el producto disponible en inventario, complementando la gestión de compra de materia prima.  </a:t>
            </a:r>
            <a:br>
              <a:rPr lang="en-US" sz="2000" dirty="0"/>
            </a:br>
            <a:endParaRPr lang="en-US" sz="2000">
              <a:latin typeface="Arial"/>
              <a:cs typeface="Arial"/>
            </a:endParaRPr>
          </a:p>
          <a:p>
            <a:r>
              <a:rPr lang="es-CO" sz="2000">
                <a:latin typeface="Arial"/>
                <a:cs typeface="Arial"/>
              </a:rPr>
              <a:t>- El proveedor tendrá una comunicación más directa con la empresa, de manera que se generará un menor margen de error en la creación y la gestión de un pedido.</a:t>
            </a:r>
            <a:endParaRPr lang="es-CO" sz="2000" dirty="0">
              <a:latin typeface="Arial"/>
              <a:cs typeface="Arial"/>
            </a:endParaRPr>
          </a:p>
          <a:p>
            <a:br>
              <a:rPr lang="en-US" dirty="0">
                <a:latin typeface="Arial"/>
                <a:cs typeface="Arial"/>
              </a:rPr>
            </a:br>
            <a:endParaRPr lang="es-ES">
              <a:latin typeface="Arial"/>
              <a:cs typeface="Arial"/>
            </a:endParaRPr>
          </a:p>
          <a:p>
            <a:endParaRPr lang="en-US" dirty="0">
              <a:latin typeface="Calibri" panose="020F0502020204030204"/>
              <a:ea typeface="Calibri" panose="020F0502020204030204"/>
              <a:cs typeface="Calibri" panose="020F0502020204030204"/>
            </a:endParaRPr>
          </a:p>
          <a:p>
            <a:r>
              <a:rPr lang="es-ES" dirty="0">
                <a:latin typeface="Arial"/>
                <a:cs typeface="Arial"/>
              </a:rPr>
              <a:t>    </a:t>
            </a:r>
            <a:endParaRPr lang="en-US" dirty="0"/>
          </a:p>
          <a:p>
            <a:br>
              <a:rPr lang="en-US" dirty="0"/>
            </a:br>
            <a:endParaRPr lang="en-US" dirty="0"/>
          </a:p>
        </p:txBody>
      </p:sp>
      <p:pic>
        <p:nvPicPr>
          <p:cNvPr id="7" name="Imagen 6" descr="Interfaz de usuario gráfica, Aplicación, Teams&#10;&#10;El contenido generado por IA puede ser incorrecto.">
            <a:extLst>
              <a:ext uri="{FF2B5EF4-FFF2-40B4-BE49-F238E27FC236}">
                <a16:creationId xmlns:a16="http://schemas.microsoft.com/office/drawing/2014/main" id="{4B00CAAD-EBF4-20CE-B152-99D0C780EDF2}"/>
              </a:ext>
            </a:extLst>
          </p:cNvPr>
          <p:cNvPicPr>
            <a:picLocks noChangeAspect="1"/>
          </p:cNvPicPr>
          <p:nvPr/>
        </p:nvPicPr>
        <p:blipFill>
          <a:blip r:embed="rId2"/>
          <a:stretch>
            <a:fillRect/>
          </a:stretch>
        </p:blipFill>
        <p:spPr>
          <a:xfrm>
            <a:off x="8428113" y="449792"/>
            <a:ext cx="1238250" cy="1047750"/>
          </a:xfrm>
          <a:prstGeom prst="rect">
            <a:avLst/>
          </a:prstGeom>
        </p:spPr>
      </p:pic>
      <p:pic>
        <p:nvPicPr>
          <p:cNvPr id="9" name="Imagen 8" descr="Logotipo&#10;&#10;El contenido generado por IA puede ser incorrecto.">
            <a:extLst>
              <a:ext uri="{FF2B5EF4-FFF2-40B4-BE49-F238E27FC236}">
                <a16:creationId xmlns:a16="http://schemas.microsoft.com/office/drawing/2014/main" id="{3C659271-EAF9-FD51-1ED3-4B8F5236AF00}"/>
              </a:ext>
            </a:extLst>
          </p:cNvPr>
          <p:cNvPicPr>
            <a:picLocks noChangeAspect="1"/>
          </p:cNvPicPr>
          <p:nvPr/>
        </p:nvPicPr>
        <p:blipFill>
          <a:blip r:embed="rId3"/>
          <a:stretch>
            <a:fillRect/>
          </a:stretch>
        </p:blipFill>
        <p:spPr>
          <a:xfrm>
            <a:off x="9668933" y="446315"/>
            <a:ext cx="1199849" cy="1054706"/>
          </a:xfrm>
          <a:prstGeom prst="rect">
            <a:avLst/>
          </a:prstGeom>
        </p:spPr>
      </p:pic>
    </p:spTree>
    <p:extLst>
      <p:ext uri="{BB962C8B-B14F-4D97-AF65-F5344CB8AC3E}">
        <p14:creationId xmlns:p14="http://schemas.microsoft.com/office/powerpoint/2010/main" val="3342347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FF67CBC-1536-A090-A5B5-FE205F3AF4AD}"/>
              </a:ext>
            </a:extLst>
          </p:cNvPr>
          <p:cNvSpPr txBox="1">
            <a:spLocks/>
          </p:cNvSpPr>
          <p:nvPr/>
        </p:nvSpPr>
        <p:spPr>
          <a:xfrm>
            <a:off x="371570" y="711723"/>
            <a:ext cx="4359124" cy="676598"/>
          </a:xfrm>
          <a:prstGeom prst="rect">
            <a:avLst/>
          </a:prstGeom>
        </p:spPr>
        <p:txBody>
          <a:bodyPr lIns="91440" tIns="45720" rIns="91440" bIns="45720" anchor="t"/>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CO" sz="4000" b="1">
                <a:solidFill>
                  <a:schemeClr val="tx1">
                    <a:lumMod val="95000"/>
                    <a:lumOff val="5000"/>
                  </a:schemeClr>
                </a:solidFill>
                <a:latin typeface="Arial"/>
                <a:cs typeface="Arial"/>
              </a:rPr>
              <a:t>DELIMITACIÓN </a:t>
            </a:r>
          </a:p>
        </p:txBody>
      </p:sp>
      <p:sp>
        <p:nvSpPr>
          <p:cNvPr id="3" name="CuadroTexto 2">
            <a:extLst>
              <a:ext uri="{FF2B5EF4-FFF2-40B4-BE49-F238E27FC236}">
                <a16:creationId xmlns:a16="http://schemas.microsoft.com/office/drawing/2014/main" id="{EF9C203C-8702-185A-A81A-1392C612CF72}"/>
              </a:ext>
            </a:extLst>
          </p:cNvPr>
          <p:cNvSpPr txBox="1">
            <a:spLocks/>
          </p:cNvSpPr>
          <p:nvPr/>
        </p:nvSpPr>
        <p:spPr>
          <a:xfrm>
            <a:off x="8694348" y="508463"/>
            <a:ext cx="1080000" cy="540000"/>
          </a:xfrm>
          <a:prstGeom prst="rect">
            <a:avLst/>
          </a:prstGeom>
          <a:noFill/>
          <a:ln>
            <a:solidFill>
              <a:schemeClr val="tx1"/>
            </a:solidFill>
          </a:ln>
        </p:spPr>
        <p:txBody>
          <a:bodyPr wrap="square" rtlCol="0" anchor="ctr" anchorCtr="0">
            <a:noAutofit/>
          </a:bodyPr>
          <a:lstStyle/>
          <a:p>
            <a:pPr algn="ctr"/>
            <a:r>
              <a:rPr lang="es-ES" sz="1600">
                <a:latin typeface="Work Sans Light" pitchFamily="2" charset="77"/>
              </a:rPr>
              <a:t>Logo Sistema</a:t>
            </a:r>
            <a:endParaRPr lang="es-CO" sz="1600">
              <a:latin typeface="Work Sans Light" pitchFamily="2" charset="77"/>
            </a:endParaRPr>
          </a:p>
        </p:txBody>
      </p:sp>
      <p:sp>
        <p:nvSpPr>
          <p:cNvPr id="4" name="CuadroTexto 3">
            <a:extLst>
              <a:ext uri="{FF2B5EF4-FFF2-40B4-BE49-F238E27FC236}">
                <a16:creationId xmlns:a16="http://schemas.microsoft.com/office/drawing/2014/main" id="{8F398273-E570-FD0C-5679-CE05DCAEEED3}"/>
              </a:ext>
            </a:extLst>
          </p:cNvPr>
          <p:cNvSpPr txBox="1">
            <a:spLocks/>
          </p:cNvSpPr>
          <p:nvPr/>
        </p:nvSpPr>
        <p:spPr>
          <a:xfrm>
            <a:off x="9775121" y="510142"/>
            <a:ext cx="1080000" cy="540000"/>
          </a:xfrm>
          <a:prstGeom prst="rect">
            <a:avLst/>
          </a:prstGeom>
          <a:noFill/>
          <a:ln>
            <a:solidFill>
              <a:schemeClr val="tx1"/>
            </a:solidFill>
          </a:ln>
        </p:spPr>
        <p:txBody>
          <a:bodyPr wrap="square" rtlCol="0" anchor="ctr" anchorCtr="0">
            <a:noAutofit/>
          </a:bodyPr>
          <a:lstStyle/>
          <a:p>
            <a:pPr algn="ctr"/>
            <a:r>
              <a:rPr lang="es-ES" sz="1600">
                <a:latin typeface="Work Sans Light" pitchFamily="2" charset="77"/>
              </a:rPr>
              <a:t>Logo Empresa</a:t>
            </a:r>
          </a:p>
        </p:txBody>
      </p:sp>
      <p:sp>
        <p:nvSpPr>
          <p:cNvPr id="6" name="CuadroTexto 5">
            <a:extLst>
              <a:ext uri="{FF2B5EF4-FFF2-40B4-BE49-F238E27FC236}">
                <a16:creationId xmlns:a16="http://schemas.microsoft.com/office/drawing/2014/main" id="{AF636D40-6663-725B-8E0D-34BDB07692AF}"/>
              </a:ext>
            </a:extLst>
          </p:cNvPr>
          <p:cNvSpPr txBox="1"/>
          <p:nvPr/>
        </p:nvSpPr>
        <p:spPr>
          <a:xfrm>
            <a:off x="372353" y="1868120"/>
            <a:ext cx="11447293" cy="4770537"/>
          </a:xfrm>
          <a:prstGeom prst="rect">
            <a:avLst/>
          </a:prstGeom>
          <a:noFill/>
        </p:spPr>
        <p:txBody>
          <a:bodyPr wrap="square" lIns="91440" tIns="45720" rIns="91440" bIns="45720" rtlCol="0" anchor="t">
            <a:spAutoFit/>
          </a:bodyPr>
          <a:lstStyle/>
          <a:p>
            <a:r>
              <a:rPr lang="es-CO" sz="2400">
                <a:latin typeface="Arial"/>
                <a:ea typeface="+mn-lt"/>
                <a:cs typeface="Arial"/>
              </a:rPr>
              <a:t>El proyecto consiste en el desarrollo del sistema software SIGAP para la empresa de panela Buenos Aires, enfocado en la gestión de inventario, ventas, entradas y salidas de productos, carrito de compras, facturación y módulo de PQRS.</a:t>
            </a:r>
            <a:endParaRPr lang="es-ES" sz="2400">
              <a:latin typeface="Arial"/>
              <a:cs typeface="Arial"/>
            </a:endParaRPr>
          </a:p>
          <a:p>
            <a:endParaRPr lang="es-CO" sz="2400" dirty="0">
              <a:latin typeface="Arial"/>
              <a:ea typeface="+mn-lt"/>
              <a:cs typeface="Arial"/>
            </a:endParaRPr>
          </a:p>
          <a:p>
            <a:r>
              <a:rPr lang="es-CO" sz="2400">
                <a:latin typeface="Arial"/>
                <a:ea typeface="+mn-lt"/>
                <a:cs typeface="Arial"/>
              </a:rPr>
              <a:t>El sistema estará dirigido a usuarios con roles definidos (gerente, bodeguero y cliente), con acceso según sus permisos.</a:t>
            </a:r>
            <a:endParaRPr lang="es-CO" sz="2400">
              <a:latin typeface="Arial"/>
              <a:cs typeface="Arial"/>
            </a:endParaRPr>
          </a:p>
          <a:p>
            <a:endParaRPr lang="es-CO" sz="2400" dirty="0">
              <a:latin typeface="Arial"/>
              <a:ea typeface="+mn-lt"/>
              <a:cs typeface="Arial"/>
            </a:endParaRPr>
          </a:p>
          <a:p>
            <a:r>
              <a:rPr lang="es-CO" sz="2400">
                <a:latin typeface="Arial"/>
                <a:ea typeface="+mn-lt"/>
                <a:cs typeface="Arial"/>
              </a:rPr>
              <a:t>Su alcance se limita a la gestión interna y comercial de la empresa, sin integrar servicios externos.</a:t>
            </a:r>
            <a:endParaRPr lang="es-CO" sz="2400">
              <a:latin typeface="Arial"/>
              <a:cs typeface="Arial"/>
            </a:endParaRPr>
          </a:p>
          <a:p>
            <a:endParaRPr lang="es-CO" sz="2400" dirty="0">
              <a:latin typeface="Arial"/>
              <a:ea typeface="+mn-lt"/>
              <a:cs typeface="Arial"/>
            </a:endParaRPr>
          </a:p>
          <a:p>
            <a:r>
              <a:rPr lang="es-CO" sz="2400" dirty="0">
                <a:latin typeface="Arial"/>
                <a:ea typeface="+mn-lt"/>
                <a:cs typeface="Arial"/>
              </a:rPr>
              <a:t>La ejecución del proyecto se realizará dentro de un periodo establecido, con fecha prevista de </a:t>
            </a:r>
            <a:r>
              <a:rPr lang="es-CO" sz="2400">
                <a:latin typeface="Arial"/>
                <a:ea typeface="+mn-lt"/>
                <a:cs typeface="Arial"/>
              </a:rPr>
              <a:t>entrega el 25 de diciembre de 2027.</a:t>
            </a:r>
            <a:endParaRPr lang="es-CO" sz="2400">
              <a:latin typeface="Arial"/>
              <a:cs typeface="Arial"/>
            </a:endParaRPr>
          </a:p>
          <a:p>
            <a:endParaRPr lang="es-CO" sz="1600" dirty="0">
              <a:latin typeface="Work Sans Light" pitchFamily="2" charset="77"/>
            </a:endParaRPr>
          </a:p>
        </p:txBody>
      </p:sp>
      <p:pic>
        <p:nvPicPr>
          <p:cNvPr id="7" name="Imagen 6" descr="Interfaz de usuario gráfica, Aplicación, Teams&#10;&#10;El contenido generado por IA puede ser incorrecto.">
            <a:extLst>
              <a:ext uri="{FF2B5EF4-FFF2-40B4-BE49-F238E27FC236}">
                <a16:creationId xmlns:a16="http://schemas.microsoft.com/office/drawing/2014/main" id="{102BC5C4-B1CA-F154-F857-F281721CB8CA}"/>
              </a:ext>
            </a:extLst>
          </p:cNvPr>
          <p:cNvPicPr>
            <a:picLocks noChangeAspect="1"/>
          </p:cNvPicPr>
          <p:nvPr/>
        </p:nvPicPr>
        <p:blipFill>
          <a:blip r:embed="rId2"/>
          <a:stretch>
            <a:fillRect/>
          </a:stretch>
        </p:blipFill>
        <p:spPr>
          <a:xfrm>
            <a:off x="8428113" y="449792"/>
            <a:ext cx="1238250" cy="1047750"/>
          </a:xfrm>
          <a:prstGeom prst="rect">
            <a:avLst/>
          </a:prstGeom>
        </p:spPr>
      </p:pic>
      <p:pic>
        <p:nvPicPr>
          <p:cNvPr id="9" name="Imagen 8" descr="Logotipo&#10;&#10;El contenido generado por IA puede ser incorrecto.">
            <a:extLst>
              <a:ext uri="{FF2B5EF4-FFF2-40B4-BE49-F238E27FC236}">
                <a16:creationId xmlns:a16="http://schemas.microsoft.com/office/drawing/2014/main" id="{0F97D7FC-3282-4958-C1A1-EB57625E4E94}"/>
              </a:ext>
            </a:extLst>
          </p:cNvPr>
          <p:cNvPicPr>
            <a:picLocks noChangeAspect="1"/>
          </p:cNvPicPr>
          <p:nvPr/>
        </p:nvPicPr>
        <p:blipFill>
          <a:blip r:embed="rId3"/>
          <a:stretch>
            <a:fillRect/>
          </a:stretch>
        </p:blipFill>
        <p:spPr>
          <a:xfrm>
            <a:off x="9668933" y="446315"/>
            <a:ext cx="1199849" cy="1054706"/>
          </a:xfrm>
          <a:prstGeom prst="rect">
            <a:avLst/>
          </a:prstGeom>
        </p:spPr>
      </p:pic>
    </p:spTree>
    <p:extLst>
      <p:ext uri="{BB962C8B-B14F-4D97-AF65-F5344CB8AC3E}">
        <p14:creationId xmlns:p14="http://schemas.microsoft.com/office/powerpoint/2010/main" val="26083112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Imagen que contiene Interfaz de usuario gráfica&#10;&#10;Descripción generada automáticamente">
            <a:extLst>
              <a:ext uri="{FF2B5EF4-FFF2-40B4-BE49-F238E27FC236}">
                <a16:creationId xmlns:a16="http://schemas.microsoft.com/office/drawing/2014/main" id="{A01EB75E-8874-42DD-11A3-2D5CA1D238B7}"/>
              </a:ext>
            </a:extLst>
          </p:cNvPr>
          <p:cNvPicPr>
            <a:picLocks noChangeAspect="1"/>
          </p:cNvPicPr>
          <p:nvPr/>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776220320"/>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TotalTime>
  <Words>620</Words>
  <Application>Microsoft Office PowerPoint</Application>
  <PresentationFormat>Panorámica</PresentationFormat>
  <Paragraphs>61</Paragraphs>
  <Slides>10</Slides>
  <Notes>1</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10</vt:i4>
      </vt:variant>
    </vt:vector>
  </HeadingPairs>
  <TitlesOfParts>
    <vt:vector size="17" baseType="lpstr">
      <vt:lpstr>Arial</vt:lpstr>
      <vt:lpstr>Calibri</vt:lpstr>
      <vt:lpstr>Calibri Light</vt:lpstr>
      <vt:lpstr>Work Sans</vt:lpstr>
      <vt:lpstr>Work Sans Light</vt:lpstr>
      <vt:lpstr>Work Sans Medium</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Jorge Enrique Pedraza Sanchez</dc:creator>
  <cp:lastModifiedBy>Aprendiz</cp:lastModifiedBy>
  <cp:revision>287</cp:revision>
  <dcterms:created xsi:type="dcterms:W3CDTF">2020-10-01T23:51:28Z</dcterms:created>
  <dcterms:modified xsi:type="dcterms:W3CDTF">2026-08-21T00:02:07Z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