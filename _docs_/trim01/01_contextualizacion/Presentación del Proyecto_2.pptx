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68" r:id="rId2"/>
    <p:sldId id="503" r:id="rId3"/>
    <p:sldId id="499" r:id="rId4"/>
    <p:sldId id="504" r:id="rId5"/>
    <p:sldId id="501" r:id="rId6"/>
    <p:sldId id="515" r:id="rId7"/>
    <p:sldId id="508" r:id="rId8"/>
    <p:sldId id="510" r:id="rId9"/>
    <p:sldId id="516" r:id="rId10"/>
    <p:sldId id="512" r:id="rId11"/>
    <p:sldId id="514" r:id="rId12"/>
    <p:sldId id="264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F5721-70B2-0BD7-5F7A-216D2FD6EF87}" v="1239" dt="2026-04-14T20:47:16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59" r:id="rId12"/>
    <p:sldLayoutId id="2147483663" r:id="rId13"/>
    <p:sldLayoutId id="2147483675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cPi0Ol2fn5N9UKE2dx4H6TJc2hQ8b-aI/edit?usp=sharing&amp;ouid=111886171928897279294&amp;rtpof=true&amp;sd=true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eg"/><Relationship Id="rId5" Type="http://schemas.openxmlformats.org/officeDocument/2006/relationships/image" Target="../media/image7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672755" y="2745360"/>
            <a:ext cx="3671772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SIGAP</a:t>
            </a:r>
            <a:r>
              <a:rPr lang="es-ES" sz="8000" b="1">
                <a:latin typeface="Work Sans"/>
              </a:rPr>
              <a:t/>
            </a:r>
            <a:br>
              <a:rPr lang="es-ES" sz="8000" b="1">
                <a:latin typeface="Work Sans"/>
              </a:rPr>
            </a:br>
            <a:r>
              <a:rPr lang="es-ES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Sistema de gestión y administración para Panela Buenos Aires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BDEB08-DE5A-B0C2-B0FE-954002411545}"/>
              </a:ext>
            </a:extLst>
          </p:cNvPr>
          <p:cNvSpPr txBox="1">
            <a:spLocks/>
          </p:cNvSpPr>
          <p:nvPr/>
        </p:nvSpPr>
        <p:spPr>
          <a:xfrm>
            <a:off x="6498769" y="2761818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lang="es-ES" sz="1600">
                <a:latin typeface="Work Sans Light"/>
              </a:rPr>
              <a:t>Logo Sistema</a:t>
            </a:r>
            <a:endParaRPr lang="es-CO" sz="1600">
              <a:latin typeface="Work Sans Ligh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C65CF2-4CAC-4B81-D093-E60894228000}"/>
              </a:ext>
            </a:extLst>
          </p:cNvPr>
          <p:cNvSpPr txBox="1">
            <a:spLocks/>
          </p:cNvSpPr>
          <p:nvPr/>
        </p:nvSpPr>
        <p:spPr>
          <a:xfrm>
            <a:off x="8500314" y="2761818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Empresa</a:t>
            </a:r>
          </a:p>
        </p:txBody>
      </p:sp>
      <p:pic>
        <p:nvPicPr>
          <p:cNvPr id="2" name="Imagen 1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111F4F8D-ED76-3D46-BAF4-0C9CBEC09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371" y="2751894"/>
            <a:ext cx="2007355" cy="1366308"/>
          </a:xfrm>
          <a:prstGeom prst="rect">
            <a:avLst/>
          </a:prstGeom>
        </p:spPr>
      </p:pic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14F37330-CAF7-2220-F1C8-61C454F5D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790" y="2756505"/>
            <a:ext cx="1986038" cy="134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1062873" y="748014"/>
            <a:ext cx="10076788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SIGAP</a:t>
            </a:r>
            <a:br>
              <a:rPr lang="es-E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</a:br>
            <a:r>
              <a:rPr lang="es-E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Sistema de gestión y administración para Panela Buenos Aires</a:t>
            </a:r>
            <a:endParaRPr lang="es-CO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algn="ctr"/>
            <a:endParaRPr lang="es-CO" sz="72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3527768" y="2084867"/>
            <a:ext cx="5136462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Cecil Daniel Pimienta Pedrozo</a:t>
            </a:r>
            <a:endParaRPr lang="es-ES" sz="2400" dirty="0">
              <a:solidFill>
                <a:schemeClr val="bg1"/>
              </a:solidFill>
              <a:latin typeface="Arial"/>
              <a:ea typeface="Calibri" panose="020F0502020204030204"/>
              <a:cs typeface="Arial"/>
            </a:endParaRPr>
          </a:p>
          <a:p>
            <a:pPr algn="ctr"/>
            <a:endParaRPr lang="es-E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algn="ctr"/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Bryan Soriano</a:t>
            </a:r>
            <a:endParaRPr lang="es-E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/>
              <a:ea typeface="Calibri"/>
              <a:cs typeface="Calibri"/>
            </a:endParaRPr>
          </a:p>
          <a:p>
            <a:pPr algn="ctr"/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/>
            </a:r>
            <a:b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</a:br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Sebastian Loboa Salazar</a:t>
            </a:r>
            <a:endParaRPr lang="es-E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/>
              <a:ea typeface="Calibri"/>
              <a:cs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Servicio Nacional de Aprendizaje –SENA, Centro de Electricidad Electrónica y Telecomunicaciones</a:t>
            </a:r>
          </a:p>
          <a:p>
            <a:pPr algn="ctr"/>
            <a:r>
              <a:rPr lang="es-E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Tecnólogo en análisis y desarrollo de software ADSO, Primer Trimestre</a:t>
            </a:r>
          </a:p>
          <a:p>
            <a:pPr algn="ctr"/>
            <a:r>
              <a:rPr lang="es-E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Instructor Albeiro Ramos</a:t>
            </a:r>
          </a:p>
          <a:p>
            <a:pPr algn="ctr"/>
            <a:r>
              <a:rPr lang="es-E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Bogotá, 01 de Abril de 2026</a:t>
            </a:r>
            <a:endParaRPr lang="es-CO" sz="16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2078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041709" y="647321"/>
            <a:ext cx="4228359" cy="6765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b="1">
                <a:latin typeface="Arial"/>
                <a:cs typeface="Arial"/>
              </a:rPr>
              <a:t>INTRODUCCIÓN</a:t>
            </a:r>
            <a:endParaRPr lang="es-ES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898493" y="2132373"/>
            <a:ext cx="5904088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000" dirty="0">
                <a:latin typeface="Work Sans Light"/>
                <a:cs typeface="Arial"/>
              </a:rPr>
              <a:t>En la presente presentación se expone todo lo relacionado con el problema, objetivo, justificación, alcance y delimitación  del proyecto SIGAP (Sistema de Gestión y Administración para Panela Buenos Aires), propuesto para la empresa Panela Buenos Aires, con el fin de optimizar procesos logísticos y productivos.</a:t>
            </a:r>
            <a:endParaRPr lang="es-ES" sz="2000" dirty="0">
              <a:latin typeface="Work Sans Light"/>
            </a:endParaRPr>
          </a:p>
          <a:p>
            <a:endParaRPr lang="es-CO" sz="1600" dirty="0">
              <a:latin typeface="Work Sans Light" pitchFamily="2" charset="77"/>
            </a:endParaRPr>
          </a:p>
        </p:txBody>
      </p:sp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8EFAA935-E53E-71AE-5343-41C46AE47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113" y="449792"/>
            <a:ext cx="1238250" cy="1047750"/>
          </a:xfrm>
          <a:prstGeom prst="rect">
            <a:avLst/>
          </a:prstGeom>
        </p:spPr>
      </p:pic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DFF1EC31-E29A-F5E5-DC7B-58CFCA450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933" y="446315"/>
            <a:ext cx="1199849" cy="1054706"/>
          </a:xfrm>
          <a:prstGeom prst="rect">
            <a:avLst/>
          </a:prstGeom>
        </p:spPr>
      </p:pic>
      <p:pic>
        <p:nvPicPr>
          <p:cNvPr id="2" name="Imagen 1" descr="Aprobado en primer debate proyecto de ley que busca salvaguardar la  producción tradicional de la panela y sus derivados">
            <a:extLst>
              <a:ext uri="{FF2B5EF4-FFF2-40B4-BE49-F238E27FC236}">
                <a16:creationId xmlns:a16="http://schemas.microsoft.com/office/drawing/2014/main" id="{D2710939-4DC6-8875-F1AE-4B31BF479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2581" y="2202258"/>
            <a:ext cx="5029199" cy="266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2CAF686-2B1F-2A4A-A0F2-CAE3CF59E65B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10515600" cy="7415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 b="1">
                <a:solidFill>
                  <a:schemeClr val="bg1"/>
                </a:solidFill>
                <a:latin typeface="Arial"/>
                <a:cs typeface="Arial"/>
              </a:rPr>
              <a:t>SIGAP</a:t>
            </a:r>
            <a:br>
              <a:rPr lang="es-ES" sz="2400" b="1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es-ES" sz="2400" b="1">
                <a:solidFill>
                  <a:schemeClr val="bg1"/>
                </a:solidFill>
                <a:latin typeface="Arial"/>
                <a:cs typeface="Arial"/>
              </a:rPr>
              <a:t>Sistema de gestión y administración para Panela Buenos Aires</a:t>
            </a:r>
            <a:endParaRPr lang="es-CO" sz="2400">
              <a:solidFill>
                <a:srgbClr val="000000"/>
              </a:solidFill>
              <a:latin typeface="Arial"/>
              <a:cs typeface="Arial"/>
            </a:endParaRPr>
          </a:p>
          <a:p>
            <a:endParaRPr lang="es-CO">
              <a:solidFill>
                <a:schemeClr val="bg1"/>
              </a:solidFill>
              <a:latin typeface="Work Sans Medium"/>
              <a:cs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2D24723-360A-B357-B421-17CF33D4C0B4}"/>
              </a:ext>
            </a:extLst>
          </p:cNvPr>
          <p:cNvSpPr txBox="1">
            <a:spLocks/>
          </p:cNvSpPr>
          <p:nvPr/>
        </p:nvSpPr>
        <p:spPr>
          <a:xfrm>
            <a:off x="1263775" y="3237807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Sistema</a:t>
            </a:r>
            <a:endParaRPr lang="es-CO" sz="160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D37F32-D413-C0B0-1883-F0E6FE54B3BB}"/>
              </a:ext>
            </a:extLst>
          </p:cNvPr>
          <p:cNvSpPr txBox="1">
            <a:spLocks/>
          </p:cNvSpPr>
          <p:nvPr/>
        </p:nvSpPr>
        <p:spPr>
          <a:xfrm>
            <a:off x="3265320" y="3237807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Empresa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79D7A8-BEDD-C9DB-4CEE-7225220AFBCD}"/>
              </a:ext>
            </a:extLst>
          </p:cNvPr>
          <p:cNvSpPr txBox="1"/>
          <p:nvPr/>
        </p:nvSpPr>
        <p:spPr>
          <a:xfrm>
            <a:off x="6653014" y="2489547"/>
            <a:ext cx="4547336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200" b="1">
                <a:solidFill>
                  <a:srgbClr val="000000"/>
                </a:solidFill>
                <a:latin typeface="Work Sans Light"/>
              </a:rPr>
              <a:t>Problema</a:t>
            </a:r>
          </a:p>
          <a:p>
            <a:r>
              <a:rPr lang="es-CO" sz="3200" b="1">
                <a:solidFill>
                  <a:srgbClr val="000000"/>
                </a:solidFill>
                <a:latin typeface="Work Sans Light"/>
              </a:rPr>
              <a:t>Objetivos</a:t>
            </a:r>
          </a:p>
          <a:p>
            <a:r>
              <a:rPr lang="es-CO" sz="3200" b="1">
                <a:solidFill>
                  <a:srgbClr val="000000"/>
                </a:solidFill>
                <a:latin typeface="Work Sans Light"/>
              </a:rPr>
              <a:t>Justificación</a:t>
            </a:r>
          </a:p>
          <a:p>
            <a:r>
              <a:rPr lang="es-CO" sz="3200" b="1">
                <a:solidFill>
                  <a:srgbClr val="000000"/>
                </a:solidFill>
                <a:latin typeface="Work Sans Light"/>
              </a:rPr>
              <a:t>Alcance</a:t>
            </a:r>
          </a:p>
          <a:p>
            <a:r>
              <a:rPr lang="es-CO" sz="3200" b="1">
                <a:solidFill>
                  <a:srgbClr val="000000"/>
                </a:solidFill>
                <a:latin typeface="Work Sans Light"/>
              </a:rPr>
              <a:t>Delimitación</a:t>
            </a:r>
          </a:p>
          <a:p>
            <a:endParaRPr lang="es-CO" sz="3200" b="1">
              <a:latin typeface="Work Sans Light" pitchFamily="2" charset="77"/>
            </a:endParaRPr>
          </a:p>
        </p:txBody>
      </p:sp>
      <p:pic>
        <p:nvPicPr>
          <p:cNvPr id="7" name="Imagen 6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6BD15797-608D-7D61-FEE9-7B9B1B63F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38" y="3236212"/>
            <a:ext cx="2011621" cy="1332077"/>
          </a:xfrm>
          <a:prstGeom prst="rect">
            <a:avLst/>
          </a:prstGeom>
        </p:spPr>
      </p:pic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EEED785C-6FC0-A440-0F51-47391F7F0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232" y="3244108"/>
            <a:ext cx="1984593" cy="132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4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639152"/>
            <a:ext cx="3621315" cy="6765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b="1">
                <a:latin typeface="Arial"/>
                <a:cs typeface="Arial"/>
              </a:rPr>
              <a:t>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Sistema</a:t>
            </a:r>
            <a:endParaRPr lang="es-CO" sz="160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456236" y="1497542"/>
            <a:ext cx="7653270" cy="52937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dirty="0" smtClean="0">
                <a:latin typeface="Work Sans Light"/>
                <a:cs typeface="Arial"/>
              </a:rPr>
              <a:t>Teniendo en cuenta la recolección de información, </a:t>
            </a:r>
            <a:r>
              <a:rPr lang="es-CO" dirty="0" smtClean="0">
                <a:latin typeface="Work Sans Light"/>
                <a:cs typeface="Arial"/>
              </a:rPr>
              <a:t>en la empresa Panela Buenos Aires, se ve la necesidad de intervenir en algunos procesos, tales como:</a:t>
            </a:r>
          </a:p>
          <a:p>
            <a:endParaRPr lang="es-CO" dirty="0">
              <a:latin typeface="Work Sans Light"/>
              <a:cs typeface="Arial"/>
            </a:endParaRPr>
          </a:p>
          <a:p>
            <a:r>
              <a:rPr lang="es-ES" b="1" dirty="0">
                <a:latin typeface="Work Sans Light"/>
              </a:rPr>
              <a:t>PROCESO 1: AGILIDAD Y GESTIÓN DE PEDIDOS (PEDIDOS)</a:t>
            </a:r>
            <a:r>
              <a:rPr lang="es-ES" dirty="0">
                <a:latin typeface="Work Sans Light"/>
              </a:rPr>
              <a:t/>
            </a:r>
            <a:br>
              <a:rPr lang="es-ES" dirty="0">
                <a:latin typeface="Work Sans Light"/>
              </a:rPr>
            </a:br>
            <a:r>
              <a:rPr lang="es-ES" dirty="0">
                <a:latin typeface="Work Sans Light"/>
              </a:rPr>
              <a:t>Dentro de los procesos de la empresa, es notorio el retraso frecuente en la gestión de pedidos, tanto en la comunicación entre el administrador y el proveedor, como en la etapa de empaquetación entre el administrador y el outsourcer. Esta situación genera demoras en los tiempos de entrega y dificulta el seguimiento adecuado de cada pedido</a:t>
            </a:r>
            <a:r>
              <a:rPr lang="es-ES" dirty="0" smtClean="0">
                <a:latin typeface="Work Sans Light"/>
              </a:rPr>
              <a:t>.</a:t>
            </a:r>
          </a:p>
          <a:p>
            <a:endParaRPr lang="es-CO" dirty="0">
              <a:latin typeface="Work Sans Light"/>
              <a:cs typeface="Arial"/>
            </a:endParaRPr>
          </a:p>
          <a:p>
            <a:r>
              <a:rPr lang="es-ES" b="1" dirty="0">
                <a:latin typeface="Work Sans Light"/>
              </a:rPr>
              <a:t>PROCESO 2: GESTIÓN Y COMUNICACIÓN CON CLIENTES (PQRS)</a:t>
            </a:r>
            <a:r>
              <a:rPr lang="es-ES" dirty="0">
                <a:latin typeface="Work Sans Light"/>
              </a:rPr>
              <a:t/>
            </a:r>
            <a:br>
              <a:rPr lang="es-ES" dirty="0">
                <a:latin typeface="Work Sans Light"/>
              </a:rPr>
            </a:br>
            <a:r>
              <a:rPr lang="es-ES" dirty="0">
                <a:latin typeface="Work Sans Light"/>
              </a:rPr>
              <a:t>Dentro de los procesos de la empresa, se evidencia una falta de comunicación efectiva con los clientes, ya que las solicitudes, quejas o reclamos no siempre se concretan de manera oportuna. Adicionalmente, la mayoría de estas interacciones se manejan de forma telefónica, lo que dificulta llevar un registro claro y organizado de cada caso.</a:t>
            </a:r>
          </a:p>
          <a:p>
            <a:endParaRPr lang="es-CO" sz="1600" dirty="0" smtClean="0">
              <a:latin typeface="Work Sans Light"/>
              <a:cs typeface="Arial"/>
            </a:endParaRPr>
          </a:p>
          <a:p>
            <a:endParaRPr lang="es-CO" sz="1600" dirty="0">
              <a:latin typeface="Work Sans Light"/>
              <a:cs typeface="Arial"/>
            </a:endParaRPr>
          </a:p>
        </p:txBody>
      </p:sp>
      <p:pic>
        <p:nvPicPr>
          <p:cNvPr id="5" name="Imagen 4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35A534C8-490A-B290-D093-278209E99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113" y="449792"/>
            <a:ext cx="1238250" cy="1047750"/>
          </a:xfrm>
          <a:prstGeom prst="rect">
            <a:avLst/>
          </a:prstGeom>
        </p:spPr>
      </p:pic>
      <p:pic>
        <p:nvPicPr>
          <p:cNvPr id="8" name="Imagen 7" descr="Logotipo&#10;&#10;El contenido generado por IA puede ser incorrecto.">
            <a:extLst>
              <a:ext uri="{FF2B5EF4-FFF2-40B4-BE49-F238E27FC236}">
                <a16:creationId xmlns:a16="http://schemas.microsoft.com/office/drawing/2014/main" id="{03FF575E-4DD3-0475-CE73-6DB37B675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933" y="446315"/>
            <a:ext cx="1199849" cy="1054706"/>
          </a:xfrm>
          <a:prstGeom prst="rect">
            <a:avLst/>
          </a:prstGeom>
        </p:spPr>
      </p:pic>
      <p:pic>
        <p:nvPicPr>
          <p:cNvPr id="7" name="Imagen 6" descr="Qué retos plantea la automatización de procesos en las empresas?">
            <a:extLst>
              <a:ext uri="{FF2B5EF4-FFF2-40B4-BE49-F238E27FC236}">
                <a16:creationId xmlns:a16="http://schemas.microsoft.com/office/drawing/2014/main" id="{4286B31E-B273-84E7-79CB-6B65171AD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499" y="2781330"/>
            <a:ext cx="3514716" cy="244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03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639152"/>
            <a:ext cx="3621315" cy="6765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b="1">
                <a:latin typeface="Arial"/>
                <a:cs typeface="Arial"/>
              </a:rPr>
              <a:t>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Sistema</a:t>
            </a:r>
            <a:endParaRPr lang="es-CO" sz="160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190001" y="1540357"/>
            <a:ext cx="8238112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b="1" dirty="0">
                <a:latin typeface="Work Sans Light"/>
              </a:rPr>
              <a:t>PROCESO 3: ADMINISTRACIÓN Y GESTIÓN DE LOS PRODUCTOS (INVENTARIO)</a:t>
            </a:r>
            <a:r>
              <a:rPr lang="es-ES" dirty="0">
                <a:latin typeface="Work Sans Light"/>
              </a:rPr>
              <a:t/>
            </a:r>
            <a:br>
              <a:rPr lang="es-ES" dirty="0">
                <a:latin typeface="Work Sans Light"/>
              </a:rPr>
            </a:br>
            <a:r>
              <a:rPr lang="es-ES" dirty="0">
                <a:latin typeface="Work Sans Light"/>
              </a:rPr>
              <a:t>Uno de los procesos más mencionados es el manejo del stock disponible, el cual se realiza de manera manual mediante listas físicas y verificación continua en las bodegas. Esto genera un alto margen de error y consume tiempo valioso que podría destinarse a otras labores</a:t>
            </a:r>
            <a:r>
              <a:rPr lang="es-ES" dirty="0" smtClean="0">
                <a:latin typeface="Work Sans Light"/>
              </a:rPr>
              <a:t>.</a:t>
            </a:r>
          </a:p>
          <a:p>
            <a:endParaRPr lang="es-ES" dirty="0">
              <a:latin typeface="Work Sans Light"/>
            </a:endParaRPr>
          </a:p>
          <a:p>
            <a:r>
              <a:rPr lang="es-ES" b="1" dirty="0">
                <a:latin typeface="Work Sans Light"/>
              </a:rPr>
              <a:t>PROCESO 4: ADMINISTRACIÓN Y VENTA DE PRODUCTO (VENTAS)</a:t>
            </a:r>
            <a:r>
              <a:rPr lang="es-ES" dirty="0">
                <a:latin typeface="Work Sans Light"/>
              </a:rPr>
              <a:t/>
            </a:r>
            <a:br>
              <a:rPr lang="es-ES" dirty="0">
                <a:latin typeface="Work Sans Light"/>
              </a:rPr>
            </a:br>
            <a:r>
              <a:rPr lang="es-ES" dirty="0">
                <a:latin typeface="Work Sans Light"/>
              </a:rPr>
              <a:t>El proceso más recurrente en la recolección de información fue el de ventas, donde es necesario recurrir al registro manual en libros y cuadernos para llevar el control de cada venta realizada. Esta práctica dificulta la consolidación de información y aumenta el riesgo de pérdida de datos.</a:t>
            </a:r>
          </a:p>
          <a:p>
            <a:endParaRPr lang="es-CO" dirty="0">
              <a:latin typeface="Work Sans Light"/>
              <a:cs typeface="Arial"/>
            </a:endParaRPr>
          </a:p>
          <a:p>
            <a:r>
              <a:rPr lang="es-CO" dirty="0" smtClean="0">
                <a:latin typeface="Work Sans Light"/>
                <a:cs typeface="Arial"/>
              </a:rPr>
              <a:t>Todos los proceso anteriores se pueden evidenciar y conocer m</a:t>
            </a:r>
            <a:r>
              <a:rPr lang="es-CO" dirty="0" smtClean="0">
                <a:latin typeface="Work Sans Light"/>
                <a:cs typeface="Arial"/>
              </a:rPr>
              <a:t>ás a fondo en la recolección de información,(</a:t>
            </a:r>
            <a:r>
              <a:rPr lang="es-CO" dirty="0" smtClean="0">
                <a:latin typeface="Work Sans Light"/>
                <a:cs typeface="Arial"/>
                <a:hlinkClick r:id="rId3"/>
              </a:rPr>
              <a:t>VER ANEXO</a:t>
            </a:r>
            <a:r>
              <a:rPr lang="es-CO" dirty="0" smtClean="0">
                <a:latin typeface="Work Sans Light"/>
                <a:cs typeface="Arial"/>
              </a:rPr>
              <a:t>).</a:t>
            </a:r>
            <a:endParaRPr lang="es-CO" dirty="0" smtClean="0">
              <a:latin typeface="Work Sans Light"/>
              <a:cs typeface="Arial"/>
            </a:endParaRPr>
          </a:p>
        </p:txBody>
      </p:sp>
      <p:pic>
        <p:nvPicPr>
          <p:cNvPr id="5" name="Imagen 4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35A534C8-490A-B290-D093-278209E99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113" y="449792"/>
            <a:ext cx="1238250" cy="1047750"/>
          </a:xfrm>
          <a:prstGeom prst="rect">
            <a:avLst/>
          </a:prstGeom>
        </p:spPr>
      </p:pic>
      <p:pic>
        <p:nvPicPr>
          <p:cNvPr id="8" name="Imagen 7" descr="Logotipo&#10;&#10;El contenido generado por IA puede ser incorrecto.">
            <a:extLst>
              <a:ext uri="{FF2B5EF4-FFF2-40B4-BE49-F238E27FC236}">
                <a16:creationId xmlns:a16="http://schemas.microsoft.com/office/drawing/2014/main" id="{03FF575E-4DD3-0475-CE73-6DB37B675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933" y="446315"/>
            <a:ext cx="1199849" cy="1054706"/>
          </a:xfrm>
          <a:prstGeom prst="rect">
            <a:avLst/>
          </a:prstGeom>
        </p:spPr>
      </p:pic>
      <p:pic>
        <p:nvPicPr>
          <p:cNvPr id="7" name="Imagen 6" descr="Qué retos plantea la automatización de procesos en las empresas?">
            <a:extLst>
              <a:ext uri="{FF2B5EF4-FFF2-40B4-BE49-F238E27FC236}">
                <a16:creationId xmlns:a16="http://schemas.microsoft.com/office/drawing/2014/main" id="{4286B31E-B273-84E7-79CB-6B65171AD0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8113" y="2545292"/>
            <a:ext cx="3605943" cy="250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78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760994" y="550448"/>
            <a:ext cx="4645461" cy="6765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b="1" dirty="0">
                <a:latin typeface="Arial"/>
                <a:cs typeface="Arial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760994" y="1300793"/>
            <a:ext cx="520919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 smtClean="0">
                <a:latin typeface="Work Sans Light" pitchFamily="2" charset="77"/>
              </a:rPr>
              <a:t>Desarroll</a:t>
            </a:r>
            <a:r>
              <a:rPr lang="es-MX" dirty="0" smtClean="0">
                <a:latin typeface="Work Sans Light" pitchFamily="2" charset="77"/>
              </a:rPr>
              <a:t>ar un sistema Web y Móvil que agilice y optimice procesos dentro de la empresa Panela Buenos Aires, tales como: ventas, PQRS y inventario.</a:t>
            </a:r>
            <a:endParaRPr lang="es-MX" dirty="0">
              <a:latin typeface="Work Sans Light" pitchFamily="2" charset="77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760994" y="2843100"/>
            <a:ext cx="5504222" cy="74916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dirty="0">
                <a:latin typeface="Arial"/>
                <a:cs typeface="Arial"/>
              </a:rPr>
              <a:t>OBJETIVOS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760994" y="3934248"/>
            <a:ext cx="7849324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>
                <a:latin typeface="Work Sans Light"/>
                <a:ea typeface="+mn-lt"/>
                <a:cs typeface="Arial"/>
              </a:rPr>
              <a:t>1.  Desarrollar </a:t>
            </a:r>
            <a:r>
              <a:rPr lang="es-MX" dirty="0">
                <a:latin typeface="Work Sans Light"/>
                <a:ea typeface="+mn-lt"/>
                <a:cs typeface="Arial"/>
              </a:rPr>
              <a:t>el modulo de USUARIOS del sistema SIGAP. </a:t>
            </a:r>
            <a:endParaRPr lang="es-MX" dirty="0">
              <a:latin typeface="Work Sans Light"/>
              <a:cs typeface="Arial"/>
            </a:endParaRPr>
          </a:p>
          <a:p>
            <a:r>
              <a:rPr lang="es-MX" b="1" dirty="0">
                <a:latin typeface="Work Sans Light"/>
                <a:ea typeface="+mn-lt"/>
                <a:cs typeface="Arial"/>
              </a:rPr>
              <a:t>2.  Desarrollar</a:t>
            </a:r>
            <a:r>
              <a:rPr lang="es-MX" dirty="0">
                <a:latin typeface="Work Sans Light"/>
                <a:ea typeface="+mn-lt"/>
                <a:cs typeface="Arial"/>
              </a:rPr>
              <a:t> el modulo de PRODUCTOS del sistema SIGAP.</a:t>
            </a:r>
          </a:p>
          <a:p>
            <a:r>
              <a:rPr lang="es-MX" b="1" dirty="0">
                <a:latin typeface="Work Sans Light"/>
                <a:ea typeface="+mn-lt"/>
                <a:cs typeface="Arial"/>
              </a:rPr>
              <a:t>3.  Desarrollar </a:t>
            </a:r>
            <a:r>
              <a:rPr lang="es-MX" dirty="0">
                <a:latin typeface="Work Sans Light"/>
                <a:ea typeface="+mn-lt"/>
                <a:cs typeface="Arial"/>
              </a:rPr>
              <a:t>el modulo de VENTAS del sistema SIGAP. </a:t>
            </a:r>
            <a:endParaRPr lang="es-MX" dirty="0">
              <a:latin typeface="Work Sans Light"/>
              <a:cs typeface="Arial"/>
            </a:endParaRPr>
          </a:p>
          <a:p>
            <a:r>
              <a:rPr lang="es-MX" b="1" dirty="0">
                <a:latin typeface="Work Sans Light"/>
                <a:ea typeface="+mn-lt"/>
                <a:cs typeface="Arial"/>
              </a:rPr>
              <a:t>4. </a:t>
            </a:r>
            <a:r>
              <a:rPr lang="es-MX" dirty="0">
                <a:latin typeface="Work Sans Light"/>
                <a:ea typeface="+mn-lt"/>
                <a:cs typeface="Arial"/>
              </a:rPr>
              <a:t> </a:t>
            </a:r>
            <a:r>
              <a:rPr lang="es-MX" b="1" dirty="0">
                <a:latin typeface="Work Sans Light"/>
                <a:ea typeface="+mn-lt"/>
                <a:cs typeface="Arial"/>
              </a:rPr>
              <a:t>Desarrollar</a:t>
            </a:r>
            <a:r>
              <a:rPr lang="es-MX" dirty="0">
                <a:latin typeface="Work Sans Light"/>
                <a:ea typeface="+mn-lt"/>
                <a:cs typeface="Arial"/>
              </a:rPr>
              <a:t> el modulo de </a:t>
            </a:r>
            <a:r>
              <a:rPr lang="es-MX" dirty="0" smtClean="0">
                <a:latin typeface="Work Sans Light"/>
                <a:ea typeface="+mn-lt"/>
                <a:cs typeface="Arial"/>
              </a:rPr>
              <a:t>PEDIDOS.</a:t>
            </a:r>
            <a:r>
              <a:rPr lang="es-MX" dirty="0" smtClean="0">
                <a:latin typeface="Work Sans Light"/>
                <a:ea typeface="+mn-lt"/>
                <a:cs typeface="Arial"/>
              </a:rPr>
              <a:t> </a:t>
            </a:r>
            <a:r>
              <a:rPr lang="es-MX" dirty="0">
                <a:latin typeface="Work Sans Light"/>
                <a:ea typeface="+mn-lt"/>
                <a:cs typeface="Arial"/>
              </a:rPr>
              <a:t>del sistema SIGAP.</a:t>
            </a:r>
          </a:p>
          <a:p>
            <a:r>
              <a:rPr lang="es-MX" b="1" dirty="0">
                <a:latin typeface="Work Sans Light"/>
                <a:ea typeface="+mn-lt"/>
                <a:cs typeface="Arial"/>
              </a:rPr>
              <a:t>5.  Desarrollar </a:t>
            </a:r>
            <a:r>
              <a:rPr lang="es-MX" dirty="0">
                <a:latin typeface="Work Sans Light"/>
                <a:ea typeface="+mn-lt"/>
                <a:cs typeface="Arial"/>
              </a:rPr>
              <a:t>el modulo PQR del sistema SIGAP.</a:t>
            </a:r>
            <a:endParaRPr lang="es-MX" dirty="0">
              <a:latin typeface="Work Sans Light"/>
              <a:cs typeface="Arial"/>
            </a:endParaRPr>
          </a:p>
        </p:txBody>
      </p:sp>
      <p:pic>
        <p:nvPicPr>
          <p:cNvPr id="10" name="Imagen 9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92BC2FF2-C39C-6065-B76B-BF800E86C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113" y="449792"/>
            <a:ext cx="1238250" cy="1047750"/>
          </a:xfrm>
          <a:prstGeom prst="rect">
            <a:avLst/>
          </a:prstGeom>
        </p:spPr>
      </p:pic>
      <p:pic>
        <p:nvPicPr>
          <p:cNvPr id="12" name="Imagen 11" descr="Logotipo&#10;&#10;El contenido generado por IA puede ser incorrecto.">
            <a:extLst>
              <a:ext uri="{FF2B5EF4-FFF2-40B4-BE49-F238E27FC236}">
                <a16:creationId xmlns:a16="http://schemas.microsoft.com/office/drawing/2014/main" id="{AD487867-26D4-C707-D072-CDB8E66D1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933" y="446315"/>
            <a:ext cx="1199849" cy="1054706"/>
          </a:xfrm>
          <a:prstGeom prst="rect">
            <a:avLst/>
          </a:prstGeom>
        </p:spPr>
      </p:pic>
      <p:pic>
        <p:nvPicPr>
          <p:cNvPr id="3" name="Imagen 2" descr="Todo lo que necesitas saber sobre el desarrollo web rápido - Comunicare">
            <a:extLst>
              <a:ext uri="{FF2B5EF4-FFF2-40B4-BE49-F238E27FC236}">
                <a16:creationId xmlns:a16="http://schemas.microsoft.com/office/drawing/2014/main" id="{E32A20DC-8472-405E-B705-61609DB54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146" y="2268325"/>
            <a:ext cx="4627563" cy="333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371569" y="748009"/>
            <a:ext cx="4189791" cy="61612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b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Sistema</a:t>
            </a:r>
            <a:endParaRPr lang="es-CO" sz="160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438951" y="1877218"/>
            <a:ext cx="7063251" cy="45858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dirty="0">
                <a:ea typeface="+mn-lt"/>
                <a:cs typeface="+mn-lt"/>
              </a:rPr>
              <a:t> </a:t>
            </a:r>
            <a:r>
              <a:rPr lang="es-CO" dirty="0">
                <a:ea typeface="+mn-lt"/>
                <a:cs typeface="+mn-lt"/>
              </a:rPr>
              <a:t>Se propone el desarrollo de un Sistema de Información Web </a:t>
            </a:r>
            <a:r>
              <a:rPr lang="es-CO" dirty="0" smtClean="0">
                <a:ea typeface="+mn-lt"/>
                <a:cs typeface="+mn-lt"/>
              </a:rPr>
              <a:t>y </a:t>
            </a:r>
            <a:r>
              <a:rPr lang="es-CO" dirty="0" smtClean="0">
                <a:ea typeface="+mn-lt"/>
                <a:cs typeface="+mn-lt"/>
              </a:rPr>
              <a:t>Móvil </a:t>
            </a:r>
            <a:r>
              <a:rPr lang="es-CO" dirty="0" smtClean="0">
                <a:ea typeface="+mn-lt"/>
                <a:cs typeface="+mn-lt"/>
              </a:rPr>
              <a:t>denominado </a:t>
            </a:r>
            <a:r>
              <a:rPr lang="es-CO" dirty="0">
                <a:ea typeface="+mn-lt"/>
                <a:cs typeface="+mn-lt"/>
              </a:rPr>
              <a:t>SIGAP (Sistema de Gestión y Administración para Panela Buenos Aires ) que sirva como </a:t>
            </a:r>
            <a:r>
              <a:rPr lang="es-CO" dirty="0" smtClean="0">
                <a:ea typeface="+mn-lt"/>
                <a:cs typeface="+mn-lt"/>
              </a:rPr>
              <a:t>herramienta de agilización y optimación en los procesos, tales como:</a:t>
            </a:r>
            <a:endParaRPr lang="es-CO" dirty="0">
              <a:latin typeface="Calibri"/>
              <a:ea typeface="+mn-lt"/>
              <a:cs typeface="+mn-lt"/>
            </a:endParaRPr>
          </a:p>
          <a:p>
            <a:endParaRPr lang="es-CO" dirty="0" smtClean="0">
              <a:latin typeface="Work Sans Light"/>
              <a:cs typeface="Arial"/>
            </a:endParaRPr>
          </a:p>
          <a:p>
            <a:endParaRPr lang="es-CO" dirty="0">
              <a:latin typeface="Work Sans Light"/>
              <a:cs typeface="Arial"/>
            </a:endParaRPr>
          </a:p>
          <a:p>
            <a:r>
              <a:rPr lang="es-ES" b="1" dirty="0">
                <a:latin typeface="Work Sans Light"/>
              </a:rPr>
              <a:t>PROCESO 1: AGILIDAD Y GESTIÓN DE PEDIDOS (PEDIDOS)</a:t>
            </a:r>
            <a:r>
              <a:rPr lang="es-ES" dirty="0">
                <a:latin typeface="Work Sans Light"/>
              </a:rPr>
              <a:t/>
            </a:r>
            <a:br>
              <a:rPr lang="es-ES" dirty="0">
                <a:latin typeface="Work Sans Light"/>
              </a:rPr>
            </a:br>
            <a:r>
              <a:rPr lang="es-ES" dirty="0">
                <a:latin typeface="Work Sans Light"/>
              </a:rPr>
              <a:t>Se propone mejorar la comunicación entre el proveedor y el administrador, así como entre el administrador y el outsourcer encargado de la empaquetación. Esto permitirá una gestión más eficiente de los pedidos, reduciendo tiempos muertos y agilizando el proceso dentro de la empresa.</a:t>
            </a:r>
          </a:p>
          <a:p>
            <a:endParaRPr lang="es-CO" sz="2000" dirty="0">
              <a:latin typeface="Calibri"/>
              <a:ea typeface="Calibri"/>
              <a:cs typeface="Calibri"/>
            </a:endParaRPr>
          </a:p>
          <a:p>
            <a:endParaRPr lang="es-CO" sz="2000" dirty="0">
              <a:latin typeface="Calibri"/>
              <a:ea typeface="Calibri"/>
              <a:cs typeface="Calibri"/>
            </a:endParaRPr>
          </a:p>
          <a:p>
            <a:endParaRPr lang="es-CO" sz="2000" dirty="0">
              <a:latin typeface="Calibri"/>
              <a:ea typeface="Calibri"/>
              <a:cs typeface="Calibri"/>
            </a:endParaRPr>
          </a:p>
          <a:p>
            <a:endParaRPr lang="es-CO" sz="1600" dirty="0">
              <a:latin typeface="Work Sans Light" pitchFamily="2" charset="77"/>
            </a:endParaRPr>
          </a:p>
        </p:txBody>
      </p:sp>
      <p:pic>
        <p:nvPicPr>
          <p:cNvPr id="7" name="Imagen 6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9893EF7C-2D1E-616F-499C-6F5FD1893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113" y="449792"/>
            <a:ext cx="1238250" cy="1047750"/>
          </a:xfrm>
          <a:prstGeom prst="rect">
            <a:avLst/>
          </a:prstGeom>
        </p:spPr>
      </p:pic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831090FB-B469-3BA4-1CD6-9DCE9FCFA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933" y="446315"/>
            <a:ext cx="1199849" cy="1054706"/>
          </a:xfrm>
          <a:prstGeom prst="rect">
            <a:avLst/>
          </a:prstGeom>
        </p:spPr>
      </p:pic>
      <p:pic>
        <p:nvPicPr>
          <p:cNvPr id="8" name="Imagen 7" descr="Desarrollo de Sistema Web - Perú">
            <a:extLst>
              <a:ext uri="{FF2B5EF4-FFF2-40B4-BE49-F238E27FC236}">
                <a16:creationId xmlns:a16="http://schemas.microsoft.com/office/drawing/2014/main" id="{66C0D7EC-2A5B-092C-A6F1-C40593F9D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202" y="2798490"/>
            <a:ext cx="4717438" cy="274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9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371569" y="748009"/>
            <a:ext cx="4189791" cy="61612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b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Sistema</a:t>
            </a:r>
            <a:endParaRPr lang="es-CO" sz="160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438951" y="1497542"/>
            <a:ext cx="7829712" cy="6832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b="1" dirty="0">
                <a:latin typeface="Work Sans Light"/>
              </a:rPr>
              <a:t>PROCESO 2: GESTIÓN Y COMUNICACIÓN CON CLIENTES (PQRS)</a:t>
            </a:r>
            <a:r>
              <a:rPr lang="es-ES" dirty="0">
                <a:latin typeface="Work Sans Light"/>
              </a:rPr>
              <a:t/>
            </a:r>
            <a:br>
              <a:rPr lang="es-ES" dirty="0">
                <a:latin typeface="Work Sans Light"/>
              </a:rPr>
            </a:br>
            <a:r>
              <a:rPr lang="es-ES" dirty="0">
                <a:latin typeface="Work Sans Light"/>
              </a:rPr>
              <a:t>Se busca fortalecer la comunicación entre el vendedor, el administrador y el cliente mediante un apartado dedicado a sugerencias, peticiones, quejas y reclamos. De esta manera, el cliente contará con un canal formal y organizado para expresar sus solicitudes, mejorando la atención y el seguimiento de cada caso.</a:t>
            </a:r>
          </a:p>
          <a:p>
            <a:r>
              <a:rPr lang="es-CO" dirty="0" smtClean="0">
                <a:latin typeface="Work Sans Light"/>
                <a:ea typeface="+mn-lt"/>
                <a:cs typeface="+mn-lt"/>
              </a:rPr>
              <a:t> </a:t>
            </a:r>
            <a:endParaRPr lang="es-CO" b="1" dirty="0">
              <a:latin typeface="Work Sans Light"/>
              <a:ea typeface="+mn-lt"/>
              <a:cs typeface="+mn-lt"/>
            </a:endParaRPr>
          </a:p>
          <a:p>
            <a:r>
              <a:rPr lang="es-ES" b="1" dirty="0" smtClean="0">
                <a:latin typeface="Work Sans Light"/>
              </a:rPr>
              <a:t>PROCESO </a:t>
            </a:r>
            <a:r>
              <a:rPr lang="es-ES" b="1" dirty="0">
                <a:latin typeface="Work Sans Light"/>
              </a:rPr>
              <a:t>3: ADMINISTRACIÓN Y GESTIÓN DE LOS PRODUCTOS (INVENTARIO)</a:t>
            </a:r>
            <a:r>
              <a:rPr lang="es-ES" dirty="0">
                <a:latin typeface="Work Sans Light"/>
              </a:rPr>
              <a:t/>
            </a:r>
            <a:br>
              <a:rPr lang="es-ES" dirty="0">
                <a:latin typeface="Work Sans Light"/>
              </a:rPr>
            </a:br>
            <a:r>
              <a:rPr lang="es-ES" dirty="0">
                <a:latin typeface="Work Sans Light"/>
              </a:rPr>
              <a:t>Se plantea brindar al administrador un apartado para el registro de productos, que además permita su edición ante posibles cambios o situaciones que lo requieran. Esto facilitará mantener el inventario actualizado y reducirá los errores propios del manejo manual</a:t>
            </a:r>
            <a:r>
              <a:rPr lang="es-ES" dirty="0" smtClean="0">
                <a:latin typeface="Work Sans Light"/>
              </a:rPr>
              <a:t>.</a:t>
            </a:r>
          </a:p>
          <a:p>
            <a:endParaRPr lang="es-ES" dirty="0">
              <a:latin typeface="Work Sans Light"/>
            </a:endParaRPr>
          </a:p>
          <a:p>
            <a:r>
              <a:rPr lang="es-ES" b="1" dirty="0">
                <a:latin typeface="Work Sans Light"/>
              </a:rPr>
              <a:t>PROCESO 4: ADMINISTRACIÓN Y VENTA DE PRODUCTO (VENTAS)</a:t>
            </a:r>
            <a:r>
              <a:rPr lang="es-ES" dirty="0">
                <a:latin typeface="Work Sans Light"/>
              </a:rPr>
              <a:t/>
            </a:r>
            <a:br>
              <a:rPr lang="es-ES" dirty="0">
                <a:latin typeface="Work Sans Light"/>
              </a:rPr>
            </a:br>
            <a:r>
              <a:rPr lang="es-ES" dirty="0">
                <a:latin typeface="Work Sans Light"/>
              </a:rPr>
              <a:t>Se pretende agilizar y facilitar el proceso de gestión y administración de la venta de productos, con el fin de reducir los percances asociados al registro manual y optimizar el control de la información generada en cada venta.</a:t>
            </a:r>
          </a:p>
          <a:p>
            <a:endParaRPr lang="es-CO" sz="2000" dirty="0" smtClean="0">
              <a:latin typeface="Calibri"/>
              <a:ea typeface="Calibri"/>
              <a:cs typeface="Calibri"/>
            </a:endParaRPr>
          </a:p>
          <a:p>
            <a:endParaRPr lang="es-CO" sz="2000" dirty="0">
              <a:latin typeface="Calibri"/>
              <a:ea typeface="Calibri"/>
              <a:cs typeface="Calibri"/>
            </a:endParaRPr>
          </a:p>
          <a:p>
            <a:endParaRPr lang="es-CO" sz="2000" dirty="0">
              <a:latin typeface="Calibri"/>
              <a:ea typeface="Calibri"/>
              <a:cs typeface="Calibri"/>
            </a:endParaRPr>
          </a:p>
          <a:p>
            <a:endParaRPr lang="es-CO" sz="2000" dirty="0">
              <a:latin typeface="Calibri"/>
              <a:ea typeface="Calibri"/>
              <a:cs typeface="Calibri"/>
            </a:endParaRPr>
          </a:p>
          <a:p>
            <a:endParaRPr lang="es-CO" sz="1600" dirty="0">
              <a:latin typeface="Work Sans Light" pitchFamily="2" charset="77"/>
            </a:endParaRPr>
          </a:p>
        </p:txBody>
      </p:sp>
      <p:pic>
        <p:nvPicPr>
          <p:cNvPr id="7" name="Imagen 6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9893EF7C-2D1E-616F-499C-6F5FD1893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113" y="449792"/>
            <a:ext cx="1238250" cy="1047750"/>
          </a:xfrm>
          <a:prstGeom prst="rect">
            <a:avLst/>
          </a:prstGeom>
        </p:spPr>
      </p:pic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831090FB-B469-3BA4-1CD6-9DCE9FCFA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933" y="446315"/>
            <a:ext cx="1199849" cy="1054706"/>
          </a:xfrm>
          <a:prstGeom prst="rect">
            <a:avLst/>
          </a:prstGeom>
        </p:spPr>
      </p:pic>
      <p:pic>
        <p:nvPicPr>
          <p:cNvPr id="8" name="Imagen 7" descr="Desarrollo de Sistema Web - Perú">
            <a:extLst>
              <a:ext uri="{FF2B5EF4-FFF2-40B4-BE49-F238E27FC236}">
                <a16:creationId xmlns:a16="http://schemas.microsoft.com/office/drawing/2014/main" id="{66C0D7EC-2A5B-092C-A6F1-C40593F9D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233" y="2651704"/>
            <a:ext cx="3920767" cy="231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02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371570" y="784293"/>
            <a:ext cx="4540553" cy="70078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b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ALCANCE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Sistema</a:t>
            </a:r>
            <a:endParaRPr lang="es-CO" sz="160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635850" y="2025908"/>
            <a:ext cx="10685295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000" dirty="0">
                <a:latin typeface="Arial"/>
                <a:cs typeface="Arial"/>
              </a:rPr>
              <a:t> - SIGAP: (Sistema de Gestión y Administración para Panela Buenos Aires), será un sistema de funcionamiento web que permitirá agilizar y optimizar algunos procesos de la empresa Panela Buenos Aires, como por ejemplo ventas, inventario, mejor gestión de clientes y empleados.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>
              <a:latin typeface="Arial"/>
              <a:cs typeface="Arial"/>
            </a:endParaRPr>
          </a:p>
          <a:p>
            <a:r>
              <a:rPr lang="es-CO" sz="2000" dirty="0">
                <a:latin typeface="Arial"/>
                <a:cs typeface="Arial"/>
              </a:rPr>
              <a:t>    -  Permitirá al administrador tener más control sobre el producto disponible en inventario, complementando la gestión de compra de materia prima.  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>
              <a:latin typeface="Arial"/>
              <a:cs typeface="Arial"/>
            </a:endParaRPr>
          </a:p>
          <a:p>
            <a:r>
              <a:rPr lang="es-CO" sz="2000" dirty="0">
                <a:latin typeface="Arial"/>
                <a:cs typeface="Arial"/>
              </a:rPr>
              <a:t>- El proveedor tendrá una comunicación más directa con la empresa, de manera que se generará un menor margen de error en la creación y la gestión de un pedido.</a:t>
            </a:r>
          </a:p>
          <a:p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endParaRPr lang="es-ES" dirty="0">
              <a:latin typeface="Arial"/>
              <a:cs typeface="Arial"/>
            </a:endParaRPr>
          </a:p>
          <a:p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s-ES" dirty="0">
                <a:latin typeface="Arial"/>
                <a:cs typeface="Arial"/>
              </a:rPr>
              <a:t>    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7" name="Imagen 6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4B00CAAD-EBF4-20CE-B152-99D0C780E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113" y="449792"/>
            <a:ext cx="1238250" cy="1047750"/>
          </a:xfrm>
          <a:prstGeom prst="rect">
            <a:avLst/>
          </a:prstGeom>
        </p:spPr>
      </p:pic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3C659271-EAF9-FD51-1ED3-4B8F5236A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933" y="446315"/>
            <a:ext cx="1199849" cy="105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34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371570" y="711723"/>
            <a:ext cx="4359124" cy="6765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b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DELIMITACIÓN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Sistema</a:t>
            </a:r>
            <a:endParaRPr lang="es-CO" sz="160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372353" y="1868120"/>
            <a:ext cx="11447293" cy="4770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>
                <a:latin typeface="Arial"/>
                <a:ea typeface="+mn-lt"/>
                <a:cs typeface="Arial"/>
              </a:rPr>
              <a:t>El proyecto consiste en el desarrollo del sistema software SIGAP para la empresa de panela Buenos Aires, enfocado en la gestión de inventario, ventas, entradas y salidas de productos, carrito de compras, facturación y módulo de PQRS.</a:t>
            </a:r>
            <a:endParaRPr lang="es-ES" sz="2400">
              <a:latin typeface="Arial"/>
              <a:cs typeface="Arial"/>
            </a:endParaRPr>
          </a:p>
          <a:p>
            <a:endParaRPr lang="es-CO" sz="2400" dirty="0">
              <a:latin typeface="Arial"/>
              <a:ea typeface="+mn-lt"/>
              <a:cs typeface="Arial"/>
            </a:endParaRPr>
          </a:p>
          <a:p>
            <a:r>
              <a:rPr lang="es-CO" sz="2400">
                <a:latin typeface="Arial"/>
                <a:ea typeface="+mn-lt"/>
                <a:cs typeface="Arial"/>
              </a:rPr>
              <a:t>El sistema estará dirigido a usuarios con roles definidos (gerente, bodeguero y cliente), con acceso según sus permisos.</a:t>
            </a:r>
            <a:endParaRPr lang="es-CO" sz="2400">
              <a:latin typeface="Arial"/>
              <a:cs typeface="Arial"/>
            </a:endParaRPr>
          </a:p>
          <a:p>
            <a:endParaRPr lang="es-CO" sz="2400" dirty="0">
              <a:latin typeface="Arial"/>
              <a:ea typeface="+mn-lt"/>
              <a:cs typeface="Arial"/>
            </a:endParaRPr>
          </a:p>
          <a:p>
            <a:r>
              <a:rPr lang="es-CO" sz="2400">
                <a:latin typeface="Arial"/>
                <a:ea typeface="+mn-lt"/>
                <a:cs typeface="Arial"/>
              </a:rPr>
              <a:t>Su alcance se limita a la gestión interna y comercial de la empresa, sin integrar servicios externos.</a:t>
            </a:r>
            <a:endParaRPr lang="es-CO" sz="2400">
              <a:latin typeface="Arial"/>
              <a:cs typeface="Arial"/>
            </a:endParaRPr>
          </a:p>
          <a:p>
            <a:endParaRPr lang="es-CO" sz="2400" dirty="0">
              <a:latin typeface="Arial"/>
              <a:ea typeface="+mn-lt"/>
              <a:cs typeface="Arial"/>
            </a:endParaRPr>
          </a:p>
          <a:p>
            <a:r>
              <a:rPr lang="es-CO" sz="2400" dirty="0">
                <a:latin typeface="Arial"/>
                <a:ea typeface="+mn-lt"/>
                <a:cs typeface="Arial"/>
              </a:rPr>
              <a:t>La ejecución del proyecto se realizará dentro de un periodo establecido, con fecha prevista de </a:t>
            </a:r>
            <a:r>
              <a:rPr lang="es-CO" sz="2400">
                <a:latin typeface="Arial"/>
                <a:ea typeface="+mn-lt"/>
                <a:cs typeface="Arial"/>
              </a:rPr>
              <a:t>entrega el 25 de diciembre de 2027.</a:t>
            </a:r>
            <a:endParaRPr lang="es-CO" sz="2400">
              <a:latin typeface="Arial"/>
              <a:cs typeface="Arial"/>
            </a:endParaRPr>
          </a:p>
          <a:p>
            <a:endParaRPr lang="es-CO" sz="1600" dirty="0">
              <a:latin typeface="Work Sans Light" pitchFamily="2" charset="77"/>
            </a:endParaRPr>
          </a:p>
        </p:txBody>
      </p:sp>
      <p:pic>
        <p:nvPicPr>
          <p:cNvPr id="7" name="Imagen 6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102BC5C4-B1CA-F154-F857-F281721CB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113" y="449792"/>
            <a:ext cx="1238250" cy="1047750"/>
          </a:xfrm>
          <a:prstGeom prst="rect">
            <a:avLst/>
          </a:prstGeom>
        </p:spPr>
      </p:pic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0F97D7FC-3282-4958-C1A1-EB57625E4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933" y="446315"/>
            <a:ext cx="1199849" cy="105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11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408</Words>
  <Application>Microsoft Office PowerPoint</Application>
  <PresentationFormat>Panorámica</PresentationFormat>
  <Paragraphs>87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Work Sans</vt:lpstr>
      <vt:lpstr>Work Sans Light</vt:lpstr>
      <vt:lpstr>Work Sans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hp</cp:lastModifiedBy>
  <cp:revision>296</cp:revision>
  <dcterms:created xsi:type="dcterms:W3CDTF">2020-10-01T23:51:28Z</dcterms:created>
  <dcterms:modified xsi:type="dcterms:W3CDTF">2026-08-24T21:57:36Z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